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38BDF8"/>
          </a:solidFill>
          <a:ln w="12700">
            <a:solidFill>
              <a:srgbClr val="38BDF8"/>
            </a:solidFill>
            <a:prstDash val="solid"/>
          </a:ln>
        </p:spPr>
      </p:sp>
      <p:sp>
        <p:nvSpPr>
          <p:cNvPr id="3" name="Text 1"/>
          <p:cNvSpPr/>
          <p:nvPr/>
        </p:nvSpPr>
        <p:spPr>
          <a:xfrm>
            <a:off x="548640" y="411480"/>
            <a:ext cx="8229600" cy="365760"/>
          </a:xfrm>
          <a:prstGeom prst="rect">
            <a:avLst/>
          </a:prstGeom>
          <a:noFill/>
          <a:ln/>
        </p:spPr>
        <p:txBody>
          <a:bodyPr wrap="square" rtlCol="0" anchor="ctr"/>
          <a:lstStyle/>
          <a:p>
            <a:pPr algn="l" indent="0" marL="0">
              <a:buNone/>
            </a:pPr>
            <a:r>
              <a:rPr lang="en-US" sz="1100" b="1" spc="300" kern="0" dirty="0">
                <a:solidFill>
                  <a:srgbClr val="38BDF8"/>
                </a:solidFill>
              </a:rPr>
              <a:t>LAB 2 — PHÂN TÍCH SẢN PHẨM AI</a:t>
            </a:r>
            <a:endParaRPr lang="en-US" sz="1100" dirty="0"/>
          </a:p>
        </p:txBody>
      </p:sp>
      <p:sp>
        <p:nvSpPr>
          <p:cNvPr id="4" name="Text 2"/>
          <p:cNvSpPr/>
          <p:nvPr/>
        </p:nvSpPr>
        <p:spPr>
          <a:xfrm>
            <a:off x="548640" y="960120"/>
            <a:ext cx="8412480" cy="960120"/>
          </a:xfrm>
          <a:prstGeom prst="rect">
            <a:avLst/>
          </a:prstGeom>
          <a:noFill/>
          <a:ln/>
        </p:spPr>
        <p:txBody>
          <a:bodyPr wrap="square" rtlCol="0" anchor="ctr"/>
          <a:lstStyle/>
          <a:p>
            <a:pPr algn="l" indent="0" marL="0">
              <a:buNone/>
            </a:pPr>
            <a:r>
              <a:rPr lang="en-US" sz="6400" b="1" dirty="0">
                <a:solidFill>
                  <a:srgbClr val="FFFFFF"/>
                </a:solidFill>
              </a:rPr>
              <a:t>ChatGPT</a:t>
            </a:r>
            <a:endParaRPr lang="en-US" sz="6400" dirty="0"/>
          </a:p>
        </p:txBody>
      </p:sp>
      <p:sp>
        <p:nvSpPr>
          <p:cNvPr id="5" name="Text 3"/>
          <p:cNvSpPr/>
          <p:nvPr/>
        </p:nvSpPr>
        <p:spPr>
          <a:xfrm>
            <a:off x="548640" y="1828800"/>
            <a:ext cx="8412480" cy="777240"/>
          </a:xfrm>
          <a:prstGeom prst="rect">
            <a:avLst/>
          </a:prstGeom>
          <a:noFill/>
          <a:ln/>
        </p:spPr>
        <p:txBody>
          <a:bodyPr wrap="square" rtlCol="0" anchor="ctr"/>
          <a:lstStyle/>
          <a:p>
            <a:pPr algn="l" indent="0" marL="0">
              <a:buNone/>
            </a:pPr>
            <a:r>
              <a:rPr lang="en-US" sz="4800" b="1" dirty="0">
                <a:solidFill>
                  <a:srgbClr val="38BDF8"/>
                </a:solidFill>
              </a:rPr>
              <a:t>vs Jasper AI</a:t>
            </a:r>
            <a:endParaRPr lang="en-US" sz="4800" dirty="0"/>
          </a:p>
        </p:txBody>
      </p:sp>
      <p:sp>
        <p:nvSpPr>
          <p:cNvPr id="6" name="Shape 4"/>
          <p:cNvSpPr/>
          <p:nvPr/>
        </p:nvSpPr>
        <p:spPr>
          <a:xfrm>
            <a:off x="548640" y="2788920"/>
            <a:ext cx="5029200" cy="36576"/>
          </a:xfrm>
          <a:prstGeom prst="rect">
            <a:avLst/>
          </a:prstGeom>
          <a:solidFill>
            <a:srgbClr val="334155"/>
          </a:solidFill>
          <a:ln w="12700">
            <a:solidFill>
              <a:srgbClr val="334155"/>
            </a:solidFill>
            <a:prstDash val="solid"/>
          </a:ln>
        </p:spPr>
      </p:sp>
      <p:sp>
        <p:nvSpPr>
          <p:cNvPr id="7" name="Text 5"/>
          <p:cNvSpPr/>
          <p:nvPr/>
        </p:nvSpPr>
        <p:spPr>
          <a:xfrm>
            <a:off x="548640" y="2926080"/>
            <a:ext cx="8229600" cy="320040"/>
          </a:xfrm>
          <a:prstGeom prst="rect">
            <a:avLst/>
          </a:prstGeom>
          <a:noFill/>
          <a:ln/>
        </p:spPr>
        <p:txBody>
          <a:bodyPr wrap="square" rtlCol="0" anchor="ctr"/>
          <a:lstStyle/>
          <a:p>
            <a:pPr algn="l" indent="0" marL="0">
              <a:buNone/>
            </a:pPr>
            <a:r>
              <a:rPr lang="en-US" sz="1400" i="1" dirty="0">
                <a:solidFill>
                  <a:srgbClr val="94A3B8"/>
                </a:solidFill>
              </a:rPr>
              <a:t>Ngành C — Viết lách / Content Marketing</a:t>
            </a:r>
            <a:endParaRPr lang="en-US" sz="1400" dirty="0"/>
          </a:p>
        </p:txBody>
      </p:sp>
      <p:sp>
        <p:nvSpPr>
          <p:cNvPr id="8" name="Text 6"/>
          <p:cNvSpPr/>
          <p:nvPr/>
        </p:nvSpPr>
        <p:spPr>
          <a:xfrm>
            <a:off x="548640" y="3383280"/>
            <a:ext cx="4572000" cy="1463040"/>
          </a:xfrm>
          <a:prstGeom prst="rect">
            <a:avLst/>
          </a:prstGeom>
          <a:noFill/>
          <a:ln/>
        </p:spPr>
        <p:txBody>
          <a:bodyPr wrap="square" rtlCol="0" anchor="ctr"/>
          <a:lstStyle/>
          <a:p>
            <a:pPr algn="l" indent="0" marL="0">
              <a:buNone/>
            </a:pPr>
            <a:r>
              <a:rPr lang="en-US" sz="1300" b="1" dirty="0">
                <a:solidFill>
                  <a:srgbClr val="FFFFFF"/>
                </a:solidFill>
              </a:rPr>
              <a:t>Chu Thị Ngọc Huyền</a:t>
            </a:r>
            <a:endParaRPr lang="en-US" sz="1300" dirty="0"/>
          </a:p>
          <a:p>
            <a:pPr algn="l" indent="0" marL="0">
              <a:buNone/>
            </a:pPr>
            <a:r>
              <a:rPr lang="en-US" sz="1300" dirty="0">
                <a:solidFill>
                  <a:srgbClr val="94A3B8"/>
                </a:solidFill>
              </a:rPr>
              <a:t>2A202600015</a:t>
            </a:r>
            <a:endParaRPr lang="en-US" sz="1300" dirty="0"/>
          </a:p>
          <a:p>
            <a:pPr algn="l" indent="0" marL="0">
              <a:buNone/>
            </a:pPr>
            <a:r>
              <a:rPr lang="en-US" sz="1300" dirty="0">
                <a:solidFill>
                  <a:srgbClr val="000000"/>
                </a:solidFill>
              </a:rPr>
              <a:t> </a:t>
            </a:r>
            <a:endParaRPr lang="en-US" sz="1300" dirty="0"/>
          </a:p>
          <a:p>
            <a:pPr algn="l" indent="0" marL="0">
              <a:buNone/>
            </a:pPr>
            <a:r>
              <a:rPr lang="en-US" sz="1300" b="1" dirty="0">
                <a:solidFill>
                  <a:srgbClr val="FFFFFF"/>
                </a:solidFill>
              </a:rPr>
              <a:t>Nguyễn Thị Tuyết</a:t>
            </a:r>
            <a:endParaRPr lang="en-US" sz="1300" dirty="0"/>
          </a:p>
          <a:p>
            <a:pPr algn="l" indent="0" marL="0">
              <a:buNone/>
            </a:pPr>
            <a:r>
              <a:rPr lang="en-US" sz="1300" dirty="0">
                <a:solidFill>
                  <a:srgbClr val="94A3B8"/>
                </a:solidFill>
              </a:rPr>
              <a:t>2A202600215</a:t>
            </a:r>
            <a:endParaRPr lang="en-US" sz="1300" dirty="0"/>
          </a:p>
        </p:txBody>
      </p:sp>
      <p:sp>
        <p:nvSpPr>
          <p:cNvPr id="9" name="Shape 7"/>
          <p:cNvSpPr/>
          <p:nvPr/>
        </p:nvSpPr>
        <p:spPr>
          <a:xfrm>
            <a:off x="7132320" y="-731520"/>
            <a:ext cx="3200400" cy="3200400"/>
          </a:xfrm>
          <a:prstGeom prst="ellipse">
            <a:avLst/>
          </a:prstGeom>
          <a:solidFill>
            <a:srgbClr val="38BDF8">
              <a:alpha val="15000"/>
            </a:srgbClr>
          </a:solidFill>
          <a:ln w="12700">
            <a:solidFill>
              <a:srgbClr val="38BDF8">
                <a:alpha val="15000"/>
              </a:srgbClr>
            </a:solidFill>
            <a:prstDash val="solid"/>
          </a:ln>
        </p:spPr>
      </p:sp>
      <p:sp>
        <p:nvSpPr>
          <p:cNvPr id="10" name="Shape 8"/>
          <p:cNvSpPr/>
          <p:nvPr/>
        </p:nvSpPr>
        <p:spPr>
          <a:xfrm>
            <a:off x="7772400" y="457200"/>
            <a:ext cx="1828800" cy="1828800"/>
          </a:xfrm>
          <a:prstGeom prst="ellipse">
            <a:avLst/>
          </a:prstGeom>
          <a:solidFill>
            <a:srgbClr val="1D4ED8">
              <a:alpha val="25000"/>
            </a:srgbClr>
          </a:solidFill>
          <a:ln w="12700">
            <a:solidFill>
              <a:srgbClr val="1D4ED8">
                <a:alpha val="25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457200" y="73152"/>
            <a:ext cx="8229600" cy="457200"/>
          </a:xfrm>
          <a:prstGeom prst="rect">
            <a:avLst/>
          </a:prstGeom>
          <a:noFill/>
          <a:ln/>
        </p:spPr>
        <p:txBody>
          <a:bodyPr wrap="square" rtlCol="0" anchor="ctr"/>
          <a:lstStyle/>
          <a:p>
            <a:pPr algn="l" indent="0" marL="0">
              <a:buNone/>
            </a:pPr>
            <a:r>
              <a:rPr lang="en-US" sz="1300" b="1" spc="200" kern="0" dirty="0">
                <a:solidFill>
                  <a:srgbClr val="38BDF8"/>
                </a:solidFill>
              </a:rPr>
              <a:t>S1 — NHIỆM VỤ THỬ NGHIỆM</a:t>
            </a:r>
            <a:endParaRPr lang="en-US" sz="1300" dirty="0"/>
          </a:p>
        </p:txBody>
      </p:sp>
      <p:sp>
        <p:nvSpPr>
          <p:cNvPr id="4" name="Text 2"/>
          <p:cNvSpPr/>
          <p:nvPr/>
        </p:nvSpPr>
        <p:spPr>
          <a:xfrm>
            <a:off x="457200" y="457200"/>
            <a:ext cx="8229600" cy="347472"/>
          </a:xfrm>
          <a:prstGeom prst="rect">
            <a:avLst/>
          </a:prstGeom>
          <a:noFill/>
          <a:ln/>
        </p:spPr>
        <p:txBody>
          <a:bodyPr wrap="square" rtlCol="0" anchor="ctr"/>
          <a:lstStyle/>
          <a:p>
            <a:pPr algn="l" indent="0" marL="0">
              <a:buNone/>
            </a:pPr>
            <a:r>
              <a:rPr lang="en-US" sz="1800" b="1" dirty="0">
                <a:solidFill>
                  <a:srgbClr val="FFFFFF"/>
                </a:solidFill>
              </a:rPr>
              <a:t>Benchmark Setup</a:t>
            </a:r>
            <a:endParaRPr lang="en-US" sz="1800" dirty="0"/>
          </a:p>
        </p:txBody>
      </p:sp>
      <p:sp>
        <p:nvSpPr>
          <p:cNvPr id="5" name="Shape 3"/>
          <p:cNvSpPr/>
          <p:nvPr/>
        </p:nvSpPr>
        <p:spPr>
          <a:xfrm>
            <a:off x="411480" y="1005840"/>
            <a:ext cx="8321040" cy="1188720"/>
          </a:xfrm>
          <a:prstGeom prst="rect">
            <a:avLst/>
          </a:prstGeom>
          <a:solidFill>
            <a:srgbClr val="1E293B"/>
          </a:solidFill>
          <a:ln w="12700">
            <a:solidFill>
              <a:srgbClr val="334155"/>
            </a:solidFill>
            <a:prstDash val="solid"/>
          </a:ln>
        </p:spPr>
      </p:sp>
      <p:sp>
        <p:nvSpPr>
          <p:cNvPr id="6" name="Text 4"/>
          <p:cNvSpPr/>
          <p:nvPr/>
        </p:nvSpPr>
        <p:spPr>
          <a:xfrm>
            <a:off x="594360" y="1078992"/>
            <a:ext cx="2743200" cy="292608"/>
          </a:xfrm>
          <a:prstGeom prst="rect">
            <a:avLst/>
          </a:prstGeom>
          <a:noFill/>
          <a:ln/>
        </p:spPr>
        <p:txBody>
          <a:bodyPr wrap="square" rtlCol="0" anchor="ctr"/>
          <a:lstStyle/>
          <a:p>
            <a:pPr indent="0" marL="0">
              <a:buNone/>
            </a:pPr>
            <a:r>
              <a:rPr lang="en-US" sz="1100" b="1" dirty="0">
                <a:solidFill>
                  <a:srgbClr val="38BDF8"/>
                </a:solidFill>
              </a:rPr>
              <a:t>📝  Prompt thực tế:</a:t>
            </a:r>
            <a:endParaRPr lang="en-US" sz="1100" dirty="0"/>
          </a:p>
        </p:txBody>
      </p:sp>
      <p:sp>
        <p:nvSpPr>
          <p:cNvPr id="7" name="Text 5"/>
          <p:cNvSpPr/>
          <p:nvPr/>
        </p:nvSpPr>
        <p:spPr>
          <a:xfrm>
            <a:off x="594360" y="1371600"/>
            <a:ext cx="7955280" cy="685800"/>
          </a:xfrm>
          <a:prstGeom prst="rect">
            <a:avLst/>
          </a:prstGeom>
          <a:noFill/>
          <a:ln/>
        </p:spPr>
        <p:txBody>
          <a:bodyPr wrap="square" rtlCol="0" anchor="ctr"/>
          <a:lstStyle/>
          <a:p>
            <a:pPr algn="l" indent="0" marL="0">
              <a:buNone/>
            </a:pPr>
            <a:r>
              <a:rPr lang="en-US" sz="1300" i="1" dirty="0">
                <a:solidFill>
                  <a:srgbClr val="FFFFFF"/>
                </a:solidFill>
              </a:rPr>
              <a:t>"Viết một bài blog chuẩn SEO dài 500 từ giới thiệu về xu hướng sử dụng AI trong marketing năm 2026, có định dạng tiêu đề và kêu gọi hành động (Call to action)."</a:t>
            </a:r>
            <a:endParaRPr lang="en-US" sz="1300" dirty="0"/>
          </a:p>
        </p:txBody>
      </p:sp>
      <p:sp>
        <p:nvSpPr>
          <p:cNvPr id="8" name="Shape 6"/>
          <p:cNvSpPr/>
          <p:nvPr/>
        </p:nvSpPr>
        <p:spPr>
          <a:xfrm>
            <a:off x="411480" y="2377440"/>
            <a:ext cx="3931920" cy="1828800"/>
          </a:xfrm>
          <a:prstGeom prst="rect">
            <a:avLst/>
          </a:prstGeom>
          <a:solidFill>
            <a:srgbClr val="FFFFFF"/>
          </a:solidFill>
          <a:ln w="12700">
            <a:solidFill>
              <a:srgbClr val="CBD5E1"/>
            </a:solidFill>
            <a:prstDash val="solid"/>
          </a:ln>
        </p:spPr>
      </p:sp>
      <p:sp>
        <p:nvSpPr>
          <p:cNvPr id="9" name="Shape 7"/>
          <p:cNvSpPr/>
          <p:nvPr/>
        </p:nvSpPr>
        <p:spPr>
          <a:xfrm>
            <a:off x="411480" y="2377440"/>
            <a:ext cx="3931920" cy="411480"/>
          </a:xfrm>
          <a:prstGeom prst="rect">
            <a:avLst/>
          </a:prstGeom>
          <a:solidFill>
            <a:srgbClr val="1D4ED8"/>
          </a:solidFill>
          <a:ln w="12700">
            <a:solidFill>
              <a:srgbClr val="1D4ED8"/>
            </a:solidFill>
            <a:prstDash val="solid"/>
          </a:ln>
        </p:spPr>
      </p:sp>
      <p:sp>
        <p:nvSpPr>
          <p:cNvPr id="10" name="Text 8"/>
          <p:cNvSpPr/>
          <p:nvPr/>
        </p:nvSpPr>
        <p:spPr>
          <a:xfrm>
            <a:off x="548640" y="2432304"/>
            <a:ext cx="3657600" cy="301752"/>
          </a:xfrm>
          <a:prstGeom prst="rect">
            <a:avLst/>
          </a:prstGeom>
          <a:noFill/>
          <a:ln/>
        </p:spPr>
        <p:txBody>
          <a:bodyPr wrap="square" rtlCol="0" anchor="ctr"/>
          <a:lstStyle/>
          <a:p>
            <a:pPr indent="0" marL="0">
              <a:buNone/>
            </a:pPr>
            <a:r>
              <a:rPr lang="en-US" sz="1300" b="1" dirty="0">
                <a:solidFill>
                  <a:srgbClr val="FFFFFF"/>
                </a:solidFill>
              </a:rPr>
              <a:t>Sản phẩm A</a:t>
            </a:r>
            <a:endParaRPr lang="en-US" sz="1300" dirty="0"/>
          </a:p>
        </p:txBody>
      </p:sp>
      <p:sp>
        <p:nvSpPr>
          <p:cNvPr id="11" name="Text 9"/>
          <p:cNvSpPr/>
          <p:nvPr/>
        </p:nvSpPr>
        <p:spPr>
          <a:xfrm>
            <a:off x="594360" y="2926080"/>
            <a:ext cx="3657600" cy="731520"/>
          </a:xfrm>
          <a:prstGeom prst="rect">
            <a:avLst/>
          </a:prstGeom>
          <a:noFill/>
          <a:ln/>
        </p:spPr>
        <p:txBody>
          <a:bodyPr wrap="square" rtlCol="0" anchor="ctr"/>
          <a:lstStyle/>
          <a:p>
            <a:pPr indent="0" marL="0">
              <a:buNone/>
            </a:pPr>
            <a:r>
              <a:rPr lang="en-US" sz="1300" b="1" dirty="0">
                <a:solidFill>
                  <a:srgbClr val="0F172A"/>
                </a:solidFill>
              </a:rPr>
              <a:t>ChatGPT</a:t>
            </a:r>
            <a:endParaRPr lang="en-US" sz="1300" dirty="0"/>
          </a:p>
          <a:p>
            <a:pPr indent="0" marL="0">
              <a:buNone/>
            </a:pPr>
            <a:r>
              <a:rPr lang="en-US" sz="1300" dirty="0">
                <a:solidFill>
                  <a:srgbClr val="94A3B8"/>
                </a:solidFill>
              </a:rPr>
              <a:t>Model: GPT-4o (mặc định)</a:t>
            </a:r>
            <a:endParaRPr lang="en-US" sz="1300" dirty="0"/>
          </a:p>
        </p:txBody>
      </p:sp>
      <p:sp>
        <p:nvSpPr>
          <p:cNvPr id="12" name="Shape 10"/>
          <p:cNvSpPr/>
          <p:nvPr/>
        </p:nvSpPr>
        <p:spPr>
          <a:xfrm>
            <a:off x="4800600" y="2377440"/>
            <a:ext cx="3931920" cy="1828800"/>
          </a:xfrm>
          <a:prstGeom prst="rect">
            <a:avLst/>
          </a:prstGeom>
          <a:solidFill>
            <a:srgbClr val="FFFFFF"/>
          </a:solidFill>
          <a:ln w="12700">
            <a:solidFill>
              <a:srgbClr val="CBD5E1"/>
            </a:solidFill>
            <a:prstDash val="solid"/>
          </a:ln>
        </p:spPr>
      </p:sp>
      <p:sp>
        <p:nvSpPr>
          <p:cNvPr id="13" name="Shape 11"/>
          <p:cNvSpPr/>
          <p:nvPr/>
        </p:nvSpPr>
        <p:spPr>
          <a:xfrm>
            <a:off x="4800600" y="2377440"/>
            <a:ext cx="3931920" cy="411480"/>
          </a:xfrm>
          <a:prstGeom prst="rect">
            <a:avLst/>
          </a:prstGeom>
          <a:solidFill>
            <a:srgbClr val="7C3AED"/>
          </a:solidFill>
          <a:ln w="12700">
            <a:solidFill>
              <a:srgbClr val="7C3AED"/>
            </a:solidFill>
            <a:prstDash val="solid"/>
          </a:ln>
        </p:spPr>
      </p:sp>
      <p:sp>
        <p:nvSpPr>
          <p:cNvPr id="14" name="Text 12"/>
          <p:cNvSpPr/>
          <p:nvPr/>
        </p:nvSpPr>
        <p:spPr>
          <a:xfrm>
            <a:off x="4937760" y="2432304"/>
            <a:ext cx="3657600" cy="301752"/>
          </a:xfrm>
          <a:prstGeom prst="rect">
            <a:avLst/>
          </a:prstGeom>
          <a:noFill/>
          <a:ln/>
        </p:spPr>
        <p:txBody>
          <a:bodyPr wrap="square" rtlCol="0" anchor="ctr"/>
          <a:lstStyle/>
          <a:p>
            <a:pPr indent="0" marL="0">
              <a:buNone/>
            </a:pPr>
            <a:r>
              <a:rPr lang="en-US" sz="1300" b="1" dirty="0">
                <a:solidFill>
                  <a:srgbClr val="FFFFFF"/>
                </a:solidFill>
              </a:rPr>
              <a:t>Sản phẩm B</a:t>
            </a:r>
            <a:endParaRPr lang="en-US" sz="1300" dirty="0"/>
          </a:p>
        </p:txBody>
      </p:sp>
      <p:sp>
        <p:nvSpPr>
          <p:cNvPr id="15" name="Text 13"/>
          <p:cNvSpPr/>
          <p:nvPr/>
        </p:nvSpPr>
        <p:spPr>
          <a:xfrm>
            <a:off x="4937760" y="2926080"/>
            <a:ext cx="3657600" cy="731520"/>
          </a:xfrm>
          <a:prstGeom prst="rect">
            <a:avLst/>
          </a:prstGeom>
          <a:noFill/>
          <a:ln/>
        </p:spPr>
        <p:txBody>
          <a:bodyPr wrap="square" rtlCol="0" anchor="ctr"/>
          <a:lstStyle/>
          <a:p>
            <a:pPr indent="0" marL="0">
              <a:buNone/>
            </a:pPr>
            <a:r>
              <a:rPr lang="en-US" sz="1300" b="1" dirty="0">
                <a:solidFill>
                  <a:srgbClr val="0F172A"/>
                </a:solidFill>
              </a:rPr>
              <a:t>Jasper AI</a:t>
            </a:r>
            <a:endParaRPr lang="en-US" sz="1300" dirty="0"/>
          </a:p>
          <a:p>
            <a:pPr indent="0" marL="0">
              <a:buNone/>
            </a:pPr>
            <a:r>
              <a:rPr lang="en-US" sz="1300" dirty="0">
                <a:solidFill>
                  <a:srgbClr val="94A3B8"/>
                </a:solidFill>
              </a:rPr>
              <a:t>Chế độ: Boss Mode / Chat</a:t>
            </a:r>
            <a:endParaRPr lang="en-US" sz="1300" dirty="0"/>
          </a:p>
        </p:txBody>
      </p:sp>
      <p:sp>
        <p:nvSpPr>
          <p:cNvPr id="16" name="Text 14"/>
          <p:cNvSpPr/>
          <p:nvPr/>
        </p:nvSpPr>
        <p:spPr>
          <a:xfrm>
            <a:off x="411480" y="4434840"/>
            <a:ext cx="8321040" cy="384048"/>
          </a:xfrm>
          <a:prstGeom prst="rect">
            <a:avLst/>
          </a:prstGeom>
          <a:noFill/>
          <a:ln/>
        </p:spPr>
        <p:txBody>
          <a:bodyPr wrap="square" rtlCol="0" anchor="ctr"/>
          <a:lstStyle/>
          <a:p>
            <a:pPr indent="0" marL="0">
              <a:buNone/>
            </a:pPr>
            <a:r>
              <a:rPr lang="en-US" sz="1150" i="1" dirty="0">
                <a:solidFill>
                  <a:srgbClr val="94A3B8"/>
                </a:solidFill>
              </a:rPr>
              <a:t>🎯  Tiêu chí đánh giá: Tốc độ phản hồi  •  Định dạng SEO  •  Văn phong tự nhiên  •  Bám sát yêu cầu</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D4ED8"/>
          </a:solidFill>
          <a:ln w="12700">
            <a:solidFill>
              <a:srgbClr val="1D4ED8"/>
            </a:solidFill>
            <a:prstDash val="solid"/>
          </a:ln>
        </p:spPr>
      </p:sp>
      <p:sp>
        <p:nvSpPr>
          <p:cNvPr id="3" name="Text 1"/>
          <p:cNvSpPr/>
          <p:nvPr/>
        </p:nvSpPr>
        <p:spPr>
          <a:xfrm>
            <a:off x="457200" y="73152"/>
            <a:ext cx="8229600" cy="365760"/>
          </a:xfrm>
          <a:prstGeom prst="rect">
            <a:avLst/>
          </a:prstGeom>
          <a:noFill/>
          <a:ln/>
        </p:spPr>
        <p:txBody>
          <a:bodyPr wrap="square" rtlCol="0" anchor="ctr"/>
          <a:lstStyle/>
          <a:p>
            <a:pPr indent="0" marL="0">
              <a:buNone/>
            </a:pPr>
            <a:r>
              <a:rPr lang="en-US" sz="1100" b="1" spc="200" kern="0" dirty="0">
                <a:solidFill>
                  <a:srgbClr val="BFDBFE"/>
                </a:solidFill>
              </a:rPr>
              <a:t>S2 — TRẢI NGHIỆM SẢN PHẨM A</a:t>
            </a:r>
            <a:endParaRPr lang="en-US" sz="1100" dirty="0"/>
          </a:p>
        </p:txBody>
      </p:sp>
      <p:sp>
        <p:nvSpPr>
          <p:cNvPr id="4" name="Text 2"/>
          <p:cNvSpPr/>
          <p:nvPr/>
        </p:nvSpPr>
        <p:spPr>
          <a:xfrm>
            <a:off x="457200" y="438912"/>
            <a:ext cx="8229600" cy="365760"/>
          </a:xfrm>
          <a:prstGeom prst="rect">
            <a:avLst/>
          </a:prstGeom>
          <a:noFill/>
          <a:ln/>
        </p:spPr>
        <p:txBody>
          <a:bodyPr wrap="square" rtlCol="0" anchor="ctr"/>
          <a:lstStyle/>
          <a:p>
            <a:pPr indent="0" marL="0">
              <a:buNone/>
            </a:pPr>
            <a:r>
              <a:rPr lang="en-US" sz="2000" b="1" dirty="0">
                <a:solidFill>
                  <a:srgbClr val="FFFFFF"/>
                </a:solidFill>
              </a:rPr>
              <a:t>ChatGPT (GPT-4o)</a:t>
            </a:r>
            <a:endParaRPr lang="en-US" sz="2000" dirty="0"/>
          </a:p>
        </p:txBody>
      </p:sp>
      <p:sp>
        <p:nvSpPr>
          <p:cNvPr id="5" name="Shape 3"/>
          <p:cNvSpPr/>
          <p:nvPr/>
        </p:nvSpPr>
        <p:spPr>
          <a:xfrm>
            <a:off x="411480" y="1005840"/>
            <a:ext cx="2560320" cy="1920240"/>
          </a:xfrm>
          <a:prstGeom prst="rect">
            <a:avLst/>
          </a:prstGeom>
          <a:solidFill>
            <a:srgbClr val="E2E8F0"/>
          </a:solidFill>
          <a:ln w="12700">
            <a:solidFill>
              <a:srgbClr val="CBD5E1"/>
            </a:solidFill>
            <a:prstDash val="solid"/>
          </a:ln>
        </p:spPr>
      </p:sp>
      <p:sp>
        <p:nvSpPr>
          <p:cNvPr id="6" name="Text 4"/>
          <p:cNvSpPr/>
          <p:nvPr/>
        </p:nvSpPr>
        <p:spPr>
          <a:xfrm>
            <a:off x="411480" y="1554480"/>
            <a:ext cx="2560320" cy="8229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a:p>
            <a:pPr algn="ctr" indent="0" marL="0">
              <a:buNone/>
            </a:pPr>
            <a:r>
              <a:rPr lang="en-US" sz="1100" dirty="0">
                <a:solidFill>
                  <a:srgbClr val="94A3B8"/>
                </a:solidFill>
              </a:rPr>
              <a:t>Entry Screen</a:t>
            </a:r>
            <a:endParaRPr lang="en-US" sz="1100" dirty="0"/>
          </a:p>
        </p:txBody>
      </p:sp>
      <p:sp>
        <p:nvSpPr>
          <p:cNvPr id="7" name="Text 5"/>
          <p:cNvSpPr/>
          <p:nvPr/>
        </p:nvSpPr>
        <p:spPr>
          <a:xfrm>
            <a:off x="41148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product-A-1</a:t>
            </a:r>
            <a:endParaRPr lang="en-US" sz="900" dirty="0"/>
          </a:p>
        </p:txBody>
      </p:sp>
      <p:sp>
        <p:nvSpPr>
          <p:cNvPr id="8" name="Shape 6"/>
          <p:cNvSpPr/>
          <p:nvPr/>
        </p:nvSpPr>
        <p:spPr>
          <a:xfrm>
            <a:off x="3291840" y="1005840"/>
            <a:ext cx="2560320" cy="1920240"/>
          </a:xfrm>
          <a:prstGeom prst="rect">
            <a:avLst/>
          </a:prstGeom>
          <a:solidFill>
            <a:srgbClr val="E2E8F0"/>
          </a:solidFill>
          <a:ln w="12700">
            <a:solidFill>
              <a:srgbClr val="CBD5E1"/>
            </a:solidFill>
            <a:prstDash val="solid"/>
          </a:ln>
        </p:spPr>
      </p:sp>
      <p:sp>
        <p:nvSpPr>
          <p:cNvPr id="9" name="Text 7"/>
          <p:cNvSpPr/>
          <p:nvPr/>
        </p:nvSpPr>
        <p:spPr>
          <a:xfrm>
            <a:off x="3291840" y="1554480"/>
            <a:ext cx="2560320" cy="8229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a:p>
            <a:pPr algn="ctr" indent="0" marL="0">
              <a:buNone/>
            </a:pPr>
            <a:r>
              <a:rPr lang="en-US" sz="1100" dirty="0">
                <a:solidFill>
                  <a:srgbClr val="94A3B8"/>
                </a:solidFill>
              </a:rPr>
              <a:t>Input / Prompt</a:t>
            </a:r>
            <a:endParaRPr lang="en-US" sz="1100" dirty="0"/>
          </a:p>
        </p:txBody>
      </p:sp>
      <p:sp>
        <p:nvSpPr>
          <p:cNvPr id="10" name="Text 8"/>
          <p:cNvSpPr/>
          <p:nvPr/>
        </p:nvSpPr>
        <p:spPr>
          <a:xfrm>
            <a:off x="329184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product-A-2</a:t>
            </a:r>
            <a:endParaRPr lang="en-US" sz="900" dirty="0"/>
          </a:p>
        </p:txBody>
      </p:sp>
      <p:sp>
        <p:nvSpPr>
          <p:cNvPr id="11" name="Shape 9"/>
          <p:cNvSpPr/>
          <p:nvPr/>
        </p:nvSpPr>
        <p:spPr>
          <a:xfrm>
            <a:off x="6172200" y="1005840"/>
            <a:ext cx="2560320" cy="1920240"/>
          </a:xfrm>
          <a:prstGeom prst="rect">
            <a:avLst/>
          </a:prstGeom>
          <a:solidFill>
            <a:srgbClr val="E2E8F0"/>
          </a:solidFill>
          <a:ln w="12700">
            <a:solidFill>
              <a:srgbClr val="CBD5E1"/>
            </a:solidFill>
            <a:prstDash val="solid"/>
          </a:ln>
        </p:spPr>
      </p:sp>
      <p:sp>
        <p:nvSpPr>
          <p:cNvPr id="12" name="Text 10"/>
          <p:cNvSpPr/>
          <p:nvPr/>
        </p:nvSpPr>
        <p:spPr>
          <a:xfrm>
            <a:off x="6172200" y="1554480"/>
            <a:ext cx="2560320" cy="822960"/>
          </a:xfrm>
          <a:prstGeom prst="rect">
            <a:avLst/>
          </a:prstGeom>
          <a:noFill/>
          <a:ln/>
        </p:spPr>
        <p:txBody>
          <a:bodyPr wrap="square" rtlCol="0" anchor="ctr"/>
          <a:lstStyle/>
          <a:p>
            <a:pPr algn="ctr" indent="0" marL="0">
              <a:buNone/>
            </a:pPr>
            <a:r>
              <a:rPr lang="en-US" sz="1100" dirty="0">
                <a:solidFill>
                  <a:srgbClr val="94A3B8"/>
                </a:solidFill>
              </a:rPr>
              <a:t>📷</a:t>
            </a:r>
            <a:endParaRPr lang="en-US" sz="1100" dirty="0"/>
          </a:p>
          <a:p>
            <a:pPr algn="ctr" indent="0" marL="0">
              <a:buNone/>
            </a:pPr>
            <a:r>
              <a:rPr lang="en-US" sz="1100" dirty="0">
                <a:solidFill>
                  <a:srgbClr val="94A3B8"/>
                </a:solidFill>
              </a:rPr>
              <a:t>Output / Kết quả</a:t>
            </a:r>
            <a:endParaRPr lang="en-US" sz="1100" dirty="0"/>
          </a:p>
        </p:txBody>
      </p:sp>
      <p:sp>
        <p:nvSpPr>
          <p:cNvPr id="13" name="Text 11"/>
          <p:cNvSpPr/>
          <p:nvPr/>
        </p:nvSpPr>
        <p:spPr>
          <a:xfrm>
            <a:off x="617220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product-A-3</a:t>
            </a:r>
            <a:endParaRPr lang="en-US" sz="900" dirty="0"/>
          </a:p>
        </p:txBody>
      </p:sp>
      <p:sp>
        <p:nvSpPr>
          <p:cNvPr id="14" name="Shape 12"/>
          <p:cNvSpPr/>
          <p:nvPr/>
        </p:nvSpPr>
        <p:spPr>
          <a:xfrm>
            <a:off x="411480" y="3154680"/>
            <a:ext cx="3931920" cy="1737360"/>
          </a:xfrm>
          <a:prstGeom prst="rect">
            <a:avLst/>
          </a:prstGeom>
          <a:solidFill>
            <a:srgbClr val="FFFFFF"/>
          </a:solidFill>
          <a:ln w="12700">
            <a:solidFill>
              <a:srgbClr val="BBF7D0"/>
            </a:solidFill>
            <a:prstDash val="solid"/>
          </a:ln>
        </p:spPr>
      </p:sp>
      <p:sp>
        <p:nvSpPr>
          <p:cNvPr id="15" name="Shape 13"/>
          <p:cNvSpPr/>
          <p:nvPr/>
        </p:nvSpPr>
        <p:spPr>
          <a:xfrm>
            <a:off x="411480" y="3154680"/>
            <a:ext cx="3931920" cy="347472"/>
          </a:xfrm>
          <a:prstGeom prst="rect">
            <a:avLst/>
          </a:prstGeom>
          <a:solidFill>
            <a:srgbClr val="16A34A"/>
          </a:solidFill>
          <a:ln w="12700">
            <a:solidFill>
              <a:srgbClr val="16A34A"/>
            </a:solidFill>
            <a:prstDash val="solid"/>
          </a:ln>
        </p:spPr>
      </p:sp>
      <p:sp>
        <p:nvSpPr>
          <p:cNvPr id="16" name="Text 14"/>
          <p:cNvSpPr/>
          <p:nvPr/>
        </p:nvSpPr>
        <p:spPr>
          <a:xfrm>
            <a:off x="502920" y="3191256"/>
            <a:ext cx="3749040" cy="274320"/>
          </a:xfrm>
          <a:prstGeom prst="rect">
            <a:avLst/>
          </a:prstGeom>
          <a:noFill/>
          <a:ln/>
        </p:spPr>
        <p:txBody>
          <a:bodyPr wrap="square" rtlCol="0" anchor="ctr"/>
          <a:lstStyle/>
          <a:p>
            <a:pPr indent="0" marL="0">
              <a:buNone/>
            </a:pPr>
            <a:r>
              <a:rPr lang="en-US" sz="1200" b="1" dirty="0">
                <a:solidFill>
                  <a:srgbClr val="FFFFFF"/>
                </a:solidFill>
              </a:rPr>
              <a:t>✅  Ưu điểm</a:t>
            </a:r>
            <a:endParaRPr lang="en-US" sz="1200" dirty="0"/>
          </a:p>
        </p:txBody>
      </p:sp>
      <p:sp>
        <p:nvSpPr>
          <p:cNvPr id="17" name="Text 15"/>
          <p:cNvSpPr/>
          <p:nvPr/>
        </p:nvSpPr>
        <p:spPr>
          <a:xfrm>
            <a:off x="548640" y="3593592"/>
            <a:ext cx="3703320" cy="1188720"/>
          </a:xfrm>
          <a:prstGeom prst="rect">
            <a:avLst/>
          </a:prstGeom>
          <a:noFill/>
          <a:ln/>
        </p:spPr>
        <p:txBody>
          <a:bodyPr wrap="square" rtlCol="0" anchor="ctr"/>
          <a:lstStyle/>
          <a:p>
            <a:pPr marL="342900" indent="-342900">
              <a:buSzPct val="100000"/>
              <a:buChar char="•"/>
            </a:pPr>
            <a:r>
              <a:rPr lang="en-US" sz="1200" dirty="0">
                <a:solidFill>
                  <a:srgbClr val="1E293B"/>
                </a:solidFill>
              </a:rPr>
              <a:t>Giao diện tối giản, không phân tâm</a:t>
            </a:r>
            <a:endParaRPr lang="en-US" sz="1200" dirty="0"/>
          </a:p>
          <a:p>
            <a:pPr marL="342900" indent="-342900">
              <a:buSzPct val="100000"/>
              <a:buChar char="•"/>
            </a:pPr>
            <a:r>
              <a:rPr lang="en-US" sz="1200" dirty="0">
                <a:solidFill>
                  <a:srgbClr val="1E293B"/>
                </a:solidFill>
              </a:rPr>
              <a:t>Phản hồi siêu tốc, văn phong tự nhiên</a:t>
            </a:r>
            <a:endParaRPr lang="en-US" sz="1200" dirty="0"/>
          </a:p>
          <a:p>
            <a:pPr marL="342900" indent="-342900">
              <a:buSzPct val="100000"/>
              <a:buChar char="•"/>
            </a:pPr>
            <a:r>
              <a:rPr lang="en-US" sz="1200" dirty="0">
                <a:solidFill>
                  <a:srgbClr val="1E293B"/>
                </a:solidFill>
              </a:rPr>
              <a:t>Tự động format Markdown chuẩn (Heading, Bullets)</a:t>
            </a:r>
            <a:endParaRPr lang="en-US" sz="1200" dirty="0"/>
          </a:p>
        </p:txBody>
      </p:sp>
      <p:sp>
        <p:nvSpPr>
          <p:cNvPr id="18" name="Shape 16"/>
          <p:cNvSpPr/>
          <p:nvPr/>
        </p:nvSpPr>
        <p:spPr>
          <a:xfrm>
            <a:off x="4800600" y="3154680"/>
            <a:ext cx="3931920" cy="1737360"/>
          </a:xfrm>
          <a:prstGeom prst="rect">
            <a:avLst/>
          </a:prstGeom>
          <a:solidFill>
            <a:srgbClr val="FFFFFF"/>
          </a:solidFill>
          <a:ln w="12700">
            <a:solidFill>
              <a:srgbClr val="FECDD3"/>
            </a:solidFill>
            <a:prstDash val="solid"/>
          </a:ln>
        </p:spPr>
      </p:sp>
      <p:sp>
        <p:nvSpPr>
          <p:cNvPr id="19" name="Shape 17"/>
          <p:cNvSpPr/>
          <p:nvPr/>
        </p:nvSpPr>
        <p:spPr>
          <a:xfrm>
            <a:off x="4800600" y="3154680"/>
            <a:ext cx="3931920" cy="347472"/>
          </a:xfrm>
          <a:prstGeom prst="rect">
            <a:avLst/>
          </a:prstGeom>
          <a:solidFill>
            <a:srgbClr val="DC2626"/>
          </a:solidFill>
          <a:ln w="12700">
            <a:solidFill>
              <a:srgbClr val="DC2626"/>
            </a:solidFill>
            <a:prstDash val="solid"/>
          </a:ln>
        </p:spPr>
      </p:sp>
      <p:sp>
        <p:nvSpPr>
          <p:cNvPr id="20" name="Text 18"/>
          <p:cNvSpPr/>
          <p:nvPr/>
        </p:nvSpPr>
        <p:spPr>
          <a:xfrm>
            <a:off x="4892040" y="3191256"/>
            <a:ext cx="3749040" cy="274320"/>
          </a:xfrm>
          <a:prstGeom prst="rect">
            <a:avLst/>
          </a:prstGeom>
          <a:noFill/>
          <a:ln/>
        </p:spPr>
        <p:txBody>
          <a:bodyPr wrap="square" rtlCol="0" anchor="ctr"/>
          <a:lstStyle/>
          <a:p>
            <a:pPr indent="0" marL="0">
              <a:buNone/>
            </a:pPr>
            <a:r>
              <a:rPr lang="en-US" sz="1200" b="1" dirty="0">
                <a:solidFill>
                  <a:srgbClr val="FFFFFF"/>
                </a:solidFill>
              </a:rPr>
              <a:t>⚠️  Nhược điểm</a:t>
            </a:r>
            <a:endParaRPr lang="en-US" sz="1200" dirty="0"/>
          </a:p>
        </p:txBody>
      </p:sp>
      <p:sp>
        <p:nvSpPr>
          <p:cNvPr id="21" name="Text 19"/>
          <p:cNvSpPr/>
          <p:nvPr/>
        </p:nvSpPr>
        <p:spPr>
          <a:xfrm>
            <a:off x="4937760" y="3593592"/>
            <a:ext cx="3703320" cy="1188720"/>
          </a:xfrm>
          <a:prstGeom prst="rect">
            <a:avLst/>
          </a:prstGeom>
          <a:noFill/>
          <a:ln/>
        </p:spPr>
        <p:txBody>
          <a:bodyPr wrap="square" rtlCol="0" anchor="ctr"/>
          <a:lstStyle/>
          <a:p>
            <a:pPr marL="342900" indent="-342900">
              <a:buSzPct val="100000"/>
              <a:buChar char="•"/>
            </a:pPr>
            <a:r>
              <a:rPr lang="en-US" sz="1200" dirty="0">
                <a:solidFill>
                  <a:srgbClr val="1E293B"/>
                </a:solidFill>
              </a:rPr>
              <a:t>Không có template hướng dẫn sẵn</a:t>
            </a:r>
            <a:endParaRPr lang="en-US" sz="1200" dirty="0"/>
          </a:p>
          <a:p>
            <a:pPr marL="342900" indent="-342900">
              <a:buSzPct val="100000"/>
              <a:buChar char="•"/>
            </a:pPr>
            <a:r>
              <a:rPr lang="en-US" sz="1200" dirty="0">
                <a:solidFill>
                  <a:srgbClr val="1E293B"/>
                </a:solidFill>
              </a:rPr>
              <a:t>Yêu cầu người dùng biết viết prompt tốt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7C3AED"/>
          </a:solidFill>
          <a:ln w="12700">
            <a:solidFill>
              <a:srgbClr val="7C3AED"/>
            </a:solidFill>
            <a:prstDash val="solid"/>
          </a:ln>
        </p:spPr>
      </p:sp>
      <p:sp>
        <p:nvSpPr>
          <p:cNvPr id="3" name="Text 1"/>
          <p:cNvSpPr/>
          <p:nvPr/>
        </p:nvSpPr>
        <p:spPr>
          <a:xfrm>
            <a:off x="457200" y="73152"/>
            <a:ext cx="8229600" cy="365760"/>
          </a:xfrm>
          <a:prstGeom prst="rect">
            <a:avLst/>
          </a:prstGeom>
          <a:noFill/>
          <a:ln/>
        </p:spPr>
        <p:txBody>
          <a:bodyPr wrap="square" rtlCol="0" anchor="ctr"/>
          <a:lstStyle/>
          <a:p>
            <a:pPr indent="0" marL="0">
              <a:buNone/>
            </a:pPr>
            <a:r>
              <a:rPr lang="en-US" sz="1100" b="1" spc="200" kern="0" dirty="0">
                <a:solidFill>
                  <a:srgbClr val="DDD6FE"/>
                </a:solidFill>
              </a:rPr>
              <a:t>S3 — TRẢI NGHIỆM SẢN PHẨM B</a:t>
            </a:r>
            <a:endParaRPr lang="en-US" sz="1100" dirty="0"/>
          </a:p>
        </p:txBody>
      </p:sp>
      <p:sp>
        <p:nvSpPr>
          <p:cNvPr id="4" name="Text 2"/>
          <p:cNvSpPr/>
          <p:nvPr/>
        </p:nvSpPr>
        <p:spPr>
          <a:xfrm>
            <a:off x="457200" y="438912"/>
            <a:ext cx="8229600" cy="365760"/>
          </a:xfrm>
          <a:prstGeom prst="rect">
            <a:avLst/>
          </a:prstGeom>
          <a:noFill/>
          <a:ln/>
        </p:spPr>
        <p:txBody>
          <a:bodyPr wrap="square" rtlCol="0" anchor="ctr"/>
          <a:lstStyle/>
          <a:p>
            <a:pPr indent="0" marL="0">
              <a:buNone/>
            </a:pPr>
            <a:r>
              <a:rPr lang="en-US" sz="2000" b="1" dirty="0">
                <a:solidFill>
                  <a:srgbClr val="FFFFFF"/>
                </a:solidFill>
              </a:rPr>
              <a:t>Jasper AI (Boss Mode)</a:t>
            </a:r>
            <a:endParaRPr lang="en-US" sz="2000" dirty="0"/>
          </a:p>
        </p:txBody>
      </p:sp>
      <p:sp>
        <p:nvSpPr>
          <p:cNvPr id="5" name="Shape 3"/>
          <p:cNvSpPr/>
          <p:nvPr/>
        </p:nvSpPr>
        <p:spPr>
          <a:xfrm>
            <a:off x="411480" y="1005840"/>
            <a:ext cx="2560320" cy="1920240"/>
          </a:xfrm>
          <a:prstGeom prst="rect">
            <a:avLst/>
          </a:prstGeom>
          <a:solidFill>
            <a:srgbClr val="EDE9FE"/>
          </a:solidFill>
          <a:ln w="12700">
            <a:solidFill>
              <a:srgbClr val="C4B5FD"/>
            </a:solidFill>
            <a:prstDash val="solid"/>
          </a:ln>
        </p:spPr>
      </p:sp>
      <p:sp>
        <p:nvSpPr>
          <p:cNvPr id="6" name="Text 4"/>
          <p:cNvSpPr/>
          <p:nvPr/>
        </p:nvSpPr>
        <p:spPr>
          <a:xfrm>
            <a:off x="411480" y="1554480"/>
            <a:ext cx="2560320" cy="822960"/>
          </a:xfrm>
          <a:prstGeom prst="rect">
            <a:avLst/>
          </a:prstGeom>
          <a:noFill/>
          <a:ln/>
        </p:spPr>
        <p:txBody>
          <a:bodyPr wrap="square" rtlCol="0" anchor="ctr"/>
          <a:lstStyle/>
          <a:p>
            <a:pPr algn="ctr" indent="0" marL="0">
              <a:buNone/>
            </a:pPr>
            <a:r>
              <a:rPr lang="en-US" sz="1100" dirty="0">
                <a:solidFill>
                  <a:srgbClr val="7C3AED"/>
                </a:solidFill>
              </a:rPr>
              <a:t>📷</a:t>
            </a:r>
            <a:endParaRPr lang="en-US" sz="1100" dirty="0"/>
          </a:p>
          <a:p>
            <a:pPr algn="ctr" indent="0" marL="0">
              <a:buNone/>
            </a:pPr>
            <a:r>
              <a:rPr lang="en-US" sz="1100" dirty="0">
                <a:solidFill>
                  <a:srgbClr val="7C3AED"/>
                </a:solidFill>
              </a:rPr>
              <a:t>Entry Screen</a:t>
            </a:r>
            <a:endParaRPr lang="en-US" sz="1100" dirty="0"/>
          </a:p>
        </p:txBody>
      </p:sp>
      <p:sp>
        <p:nvSpPr>
          <p:cNvPr id="7" name="Text 5"/>
          <p:cNvSpPr/>
          <p:nvPr/>
        </p:nvSpPr>
        <p:spPr>
          <a:xfrm>
            <a:off x="41148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product-B-1</a:t>
            </a:r>
            <a:endParaRPr lang="en-US" sz="900" dirty="0"/>
          </a:p>
        </p:txBody>
      </p:sp>
      <p:sp>
        <p:nvSpPr>
          <p:cNvPr id="8" name="Shape 6"/>
          <p:cNvSpPr/>
          <p:nvPr/>
        </p:nvSpPr>
        <p:spPr>
          <a:xfrm>
            <a:off x="3291840" y="1005840"/>
            <a:ext cx="2560320" cy="1920240"/>
          </a:xfrm>
          <a:prstGeom prst="rect">
            <a:avLst/>
          </a:prstGeom>
          <a:solidFill>
            <a:srgbClr val="EDE9FE"/>
          </a:solidFill>
          <a:ln w="12700">
            <a:solidFill>
              <a:srgbClr val="C4B5FD"/>
            </a:solidFill>
            <a:prstDash val="solid"/>
          </a:ln>
        </p:spPr>
      </p:sp>
      <p:sp>
        <p:nvSpPr>
          <p:cNvPr id="9" name="Text 7"/>
          <p:cNvSpPr/>
          <p:nvPr/>
        </p:nvSpPr>
        <p:spPr>
          <a:xfrm>
            <a:off x="3291840" y="1554480"/>
            <a:ext cx="2560320" cy="822960"/>
          </a:xfrm>
          <a:prstGeom prst="rect">
            <a:avLst/>
          </a:prstGeom>
          <a:noFill/>
          <a:ln/>
        </p:spPr>
        <p:txBody>
          <a:bodyPr wrap="square" rtlCol="0" anchor="ctr"/>
          <a:lstStyle/>
          <a:p>
            <a:pPr algn="ctr" indent="0" marL="0">
              <a:buNone/>
            </a:pPr>
            <a:r>
              <a:rPr lang="en-US" sz="1100" dirty="0">
                <a:solidFill>
                  <a:srgbClr val="7C3AED"/>
                </a:solidFill>
              </a:rPr>
              <a:t>📷</a:t>
            </a:r>
            <a:endParaRPr lang="en-US" sz="1100" dirty="0"/>
          </a:p>
          <a:p>
            <a:pPr algn="ctr" indent="0" marL="0">
              <a:buNone/>
            </a:pPr>
            <a:r>
              <a:rPr lang="en-US" sz="1100" dirty="0">
                <a:solidFill>
                  <a:srgbClr val="7C3AED"/>
                </a:solidFill>
              </a:rPr>
              <a:t>Input / Prompt</a:t>
            </a:r>
            <a:endParaRPr lang="en-US" sz="1100" dirty="0"/>
          </a:p>
        </p:txBody>
      </p:sp>
      <p:sp>
        <p:nvSpPr>
          <p:cNvPr id="10" name="Text 8"/>
          <p:cNvSpPr/>
          <p:nvPr/>
        </p:nvSpPr>
        <p:spPr>
          <a:xfrm>
            <a:off x="329184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product-B-2</a:t>
            </a:r>
            <a:endParaRPr lang="en-US" sz="900" dirty="0"/>
          </a:p>
        </p:txBody>
      </p:sp>
      <p:sp>
        <p:nvSpPr>
          <p:cNvPr id="11" name="Shape 9"/>
          <p:cNvSpPr/>
          <p:nvPr/>
        </p:nvSpPr>
        <p:spPr>
          <a:xfrm>
            <a:off x="6172200" y="1005840"/>
            <a:ext cx="2560320" cy="1920240"/>
          </a:xfrm>
          <a:prstGeom prst="rect">
            <a:avLst/>
          </a:prstGeom>
          <a:solidFill>
            <a:srgbClr val="EDE9FE"/>
          </a:solidFill>
          <a:ln w="12700">
            <a:solidFill>
              <a:srgbClr val="C4B5FD"/>
            </a:solidFill>
            <a:prstDash val="solid"/>
          </a:ln>
        </p:spPr>
      </p:sp>
      <p:sp>
        <p:nvSpPr>
          <p:cNvPr id="12" name="Text 10"/>
          <p:cNvSpPr/>
          <p:nvPr/>
        </p:nvSpPr>
        <p:spPr>
          <a:xfrm>
            <a:off x="6172200" y="1554480"/>
            <a:ext cx="2560320" cy="822960"/>
          </a:xfrm>
          <a:prstGeom prst="rect">
            <a:avLst/>
          </a:prstGeom>
          <a:noFill/>
          <a:ln/>
        </p:spPr>
        <p:txBody>
          <a:bodyPr wrap="square" rtlCol="0" anchor="ctr"/>
          <a:lstStyle/>
          <a:p>
            <a:pPr algn="ctr" indent="0" marL="0">
              <a:buNone/>
            </a:pPr>
            <a:r>
              <a:rPr lang="en-US" sz="1100" dirty="0">
                <a:solidFill>
                  <a:srgbClr val="7C3AED"/>
                </a:solidFill>
              </a:rPr>
              <a:t>📷</a:t>
            </a:r>
            <a:endParaRPr lang="en-US" sz="1100" dirty="0"/>
          </a:p>
          <a:p>
            <a:pPr algn="ctr" indent="0" marL="0">
              <a:buNone/>
            </a:pPr>
            <a:r>
              <a:rPr lang="en-US" sz="1100" dirty="0">
                <a:solidFill>
                  <a:srgbClr val="7C3AED"/>
                </a:solidFill>
              </a:rPr>
              <a:t>Output / Kết quả</a:t>
            </a:r>
            <a:endParaRPr lang="en-US" sz="1100" dirty="0"/>
          </a:p>
        </p:txBody>
      </p:sp>
      <p:sp>
        <p:nvSpPr>
          <p:cNvPr id="13" name="Text 11"/>
          <p:cNvSpPr/>
          <p:nvPr/>
        </p:nvSpPr>
        <p:spPr>
          <a:xfrm>
            <a:off x="6172200" y="2651760"/>
            <a:ext cx="2560320" cy="228600"/>
          </a:xfrm>
          <a:prstGeom prst="rect">
            <a:avLst/>
          </a:prstGeom>
          <a:noFill/>
          <a:ln/>
        </p:spPr>
        <p:txBody>
          <a:bodyPr wrap="square" rtlCol="0" anchor="ctr"/>
          <a:lstStyle/>
          <a:p>
            <a:pPr algn="ctr" indent="0" marL="0">
              <a:buNone/>
            </a:pPr>
            <a:r>
              <a:rPr lang="en-US" sz="900" i="1" dirty="0">
                <a:solidFill>
                  <a:srgbClr val="94A3B8"/>
                </a:solidFill>
              </a:rPr>
              <a:t>product-B-3</a:t>
            </a:r>
            <a:endParaRPr lang="en-US" sz="900" dirty="0"/>
          </a:p>
        </p:txBody>
      </p:sp>
      <p:sp>
        <p:nvSpPr>
          <p:cNvPr id="14" name="Shape 12"/>
          <p:cNvSpPr/>
          <p:nvPr/>
        </p:nvSpPr>
        <p:spPr>
          <a:xfrm>
            <a:off x="411480" y="3154680"/>
            <a:ext cx="3931920" cy="1737360"/>
          </a:xfrm>
          <a:prstGeom prst="rect">
            <a:avLst/>
          </a:prstGeom>
          <a:solidFill>
            <a:srgbClr val="FFFFFF"/>
          </a:solidFill>
          <a:ln w="12700">
            <a:solidFill>
              <a:srgbClr val="BBF7D0"/>
            </a:solidFill>
            <a:prstDash val="solid"/>
          </a:ln>
        </p:spPr>
      </p:sp>
      <p:sp>
        <p:nvSpPr>
          <p:cNvPr id="15" name="Shape 13"/>
          <p:cNvSpPr/>
          <p:nvPr/>
        </p:nvSpPr>
        <p:spPr>
          <a:xfrm>
            <a:off x="411480" y="3154680"/>
            <a:ext cx="3931920" cy="347472"/>
          </a:xfrm>
          <a:prstGeom prst="rect">
            <a:avLst/>
          </a:prstGeom>
          <a:solidFill>
            <a:srgbClr val="16A34A"/>
          </a:solidFill>
          <a:ln w="12700">
            <a:solidFill>
              <a:srgbClr val="16A34A"/>
            </a:solidFill>
            <a:prstDash val="solid"/>
          </a:ln>
        </p:spPr>
      </p:sp>
      <p:sp>
        <p:nvSpPr>
          <p:cNvPr id="16" name="Text 14"/>
          <p:cNvSpPr/>
          <p:nvPr/>
        </p:nvSpPr>
        <p:spPr>
          <a:xfrm>
            <a:off x="502920" y="3191256"/>
            <a:ext cx="3749040" cy="274320"/>
          </a:xfrm>
          <a:prstGeom prst="rect">
            <a:avLst/>
          </a:prstGeom>
          <a:noFill/>
          <a:ln/>
        </p:spPr>
        <p:txBody>
          <a:bodyPr wrap="square" rtlCol="0" anchor="ctr"/>
          <a:lstStyle/>
          <a:p>
            <a:pPr indent="0" marL="0">
              <a:buNone/>
            </a:pPr>
            <a:r>
              <a:rPr lang="en-US" sz="1200" b="1" dirty="0">
                <a:solidFill>
                  <a:srgbClr val="FFFFFF"/>
                </a:solidFill>
              </a:rPr>
              <a:t>✅  Ưu điểm</a:t>
            </a:r>
            <a:endParaRPr lang="en-US" sz="1200" dirty="0"/>
          </a:p>
        </p:txBody>
      </p:sp>
      <p:sp>
        <p:nvSpPr>
          <p:cNvPr id="17" name="Text 15"/>
          <p:cNvSpPr/>
          <p:nvPr/>
        </p:nvSpPr>
        <p:spPr>
          <a:xfrm>
            <a:off x="548640" y="3593592"/>
            <a:ext cx="3703320" cy="1188720"/>
          </a:xfrm>
          <a:prstGeom prst="rect">
            <a:avLst/>
          </a:prstGeom>
          <a:noFill/>
          <a:ln/>
        </p:spPr>
        <p:txBody>
          <a:bodyPr wrap="square" rtlCol="0" anchor="ctr"/>
          <a:lstStyle/>
          <a:p>
            <a:pPr marL="342900" indent="-342900">
              <a:buSzPct val="100000"/>
              <a:buChar char="•"/>
            </a:pPr>
            <a:r>
              <a:rPr lang="en-US" sz="1200" dirty="0">
                <a:solidFill>
                  <a:srgbClr val="1E293B"/>
                </a:solidFill>
              </a:rPr>
              <a:t>Có sẵn công thức marketing (AIDA, PAS)</a:t>
            </a:r>
            <a:endParaRPr lang="en-US" sz="1200" dirty="0"/>
          </a:p>
          <a:p>
            <a:pPr marL="342900" indent="-342900">
              <a:buSzPct val="100000"/>
              <a:buChar char="•"/>
            </a:pPr>
            <a:r>
              <a:rPr lang="en-US" sz="1200" dirty="0">
                <a:solidFill>
                  <a:srgbClr val="1E293B"/>
                </a:solidFill>
              </a:rPr>
              <a:t>Brand Voice — giọng điệu nhất quán của doanh nghiệp</a:t>
            </a:r>
            <a:endParaRPr lang="en-US" sz="1200" dirty="0"/>
          </a:p>
          <a:p>
            <a:pPr marL="342900" indent="-342900">
              <a:buSzPct val="100000"/>
              <a:buChar char="•"/>
            </a:pPr>
            <a:r>
              <a:rPr lang="en-US" sz="1200" dirty="0">
                <a:solidFill>
                  <a:srgbClr val="1E293B"/>
                </a:solidFill>
              </a:rPr>
              <a:t>Thân thiện với người không rành prompt</a:t>
            </a:r>
            <a:endParaRPr lang="en-US" sz="1200" dirty="0"/>
          </a:p>
        </p:txBody>
      </p:sp>
      <p:sp>
        <p:nvSpPr>
          <p:cNvPr id="18" name="Shape 16"/>
          <p:cNvSpPr/>
          <p:nvPr/>
        </p:nvSpPr>
        <p:spPr>
          <a:xfrm>
            <a:off x="4800600" y="3154680"/>
            <a:ext cx="3931920" cy="1737360"/>
          </a:xfrm>
          <a:prstGeom prst="rect">
            <a:avLst/>
          </a:prstGeom>
          <a:solidFill>
            <a:srgbClr val="FFFFFF"/>
          </a:solidFill>
          <a:ln w="12700">
            <a:solidFill>
              <a:srgbClr val="FECDD3"/>
            </a:solidFill>
            <a:prstDash val="solid"/>
          </a:ln>
        </p:spPr>
      </p:sp>
      <p:sp>
        <p:nvSpPr>
          <p:cNvPr id="19" name="Shape 17"/>
          <p:cNvSpPr/>
          <p:nvPr/>
        </p:nvSpPr>
        <p:spPr>
          <a:xfrm>
            <a:off x="4800600" y="3154680"/>
            <a:ext cx="3931920" cy="347472"/>
          </a:xfrm>
          <a:prstGeom prst="rect">
            <a:avLst/>
          </a:prstGeom>
          <a:solidFill>
            <a:srgbClr val="DC2626"/>
          </a:solidFill>
          <a:ln w="12700">
            <a:solidFill>
              <a:srgbClr val="DC2626"/>
            </a:solidFill>
            <a:prstDash val="solid"/>
          </a:ln>
        </p:spPr>
      </p:sp>
      <p:sp>
        <p:nvSpPr>
          <p:cNvPr id="20" name="Text 18"/>
          <p:cNvSpPr/>
          <p:nvPr/>
        </p:nvSpPr>
        <p:spPr>
          <a:xfrm>
            <a:off x="4892040" y="3191256"/>
            <a:ext cx="3749040" cy="274320"/>
          </a:xfrm>
          <a:prstGeom prst="rect">
            <a:avLst/>
          </a:prstGeom>
          <a:noFill/>
          <a:ln/>
        </p:spPr>
        <p:txBody>
          <a:bodyPr wrap="square" rtlCol="0" anchor="ctr"/>
          <a:lstStyle/>
          <a:p>
            <a:pPr indent="0" marL="0">
              <a:buNone/>
            </a:pPr>
            <a:r>
              <a:rPr lang="en-US" sz="1200" b="1" dirty="0">
                <a:solidFill>
                  <a:srgbClr val="FFFFFF"/>
                </a:solidFill>
              </a:rPr>
              <a:t>⚠️  Nhược điểm</a:t>
            </a:r>
            <a:endParaRPr lang="en-US" sz="1200" dirty="0"/>
          </a:p>
        </p:txBody>
      </p:sp>
      <p:sp>
        <p:nvSpPr>
          <p:cNvPr id="21" name="Text 19"/>
          <p:cNvSpPr/>
          <p:nvPr/>
        </p:nvSpPr>
        <p:spPr>
          <a:xfrm>
            <a:off x="4937760" y="3593592"/>
            <a:ext cx="3703320" cy="1188720"/>
          </a:xfrm>
          <a:prstGeom prst="rect">
            <a:avLst/>
          </a:prstGeom>
          <a:noFill/>
          <a:ln/>
        </p:spPr>
        <p:txBody>
          <a:bodyPr wrap="square" rtlCol="0" anchor="ctr"/>
          <a:lstStyle/>
          <a:p>
            <a:pPr marL="342900" indent="-342900">
              <a:buSzPct val="100000"/>
              <a:buChar char="•"/>
            </a:pPr>
            <a:r>
              <a:rPr lang="en-US" sz="1200" dirty="0">
                <a:solidFill>
                  <a:srgbClr val="1E293B"/>
                </a:solidFill>
              </a:rPr>
              <a:t>Giao diện phức tạp, nhiều nút bấm</a:t>
            </a:r>
            <a:endParaRPr lang="en-US" sz="1200" dirty="0"/>
          </a:p>
          <a:p>
            <a:pPr marL="342900" indent="-342900">
              <a:buSzPct val="100000"/>
              <a:buChar char="•"/>
            </a:pPr>
            <a:r>
              <a:rPr lang="en-US" sz="1200" dirty="0">
                <a:solidFill>
                  <a:srgbClr val="1E293B"/>
                </a:solidFill>
              </a:rPr>
              <a:t>Giá cao ($39+/tháng) — kém competitive</a:t>
            </a:r>
            <a:endParaRPr lang="en-US" sz="1200" dirty="0"/>
          </a:p>
          <a:p>
            <a:pPr marL="342900" indent="-342900">
              <a:buSzPct val="100000"/>
              <a:buChar char="•"/>
            </a:pPr>
            <a:r>
              <a:rPr lang="en-US" sz="1200" dirty="0">
                <a:solidFill>
                  <a:srgbClr val="1E293B"/>
                </a:solidFill>
              </a:rPr>
              <a:t>Văn bản đôi khi vẫn cảm giác "máy móc"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
            <a:ext cx="8229600" cy="347472"/>
          </a:xfrm>
          <a:prstGeom prst="rect">
            <a:avLst/>
          </a:prstGeom>
          <a:noFill/>
          <a:ln/>
        </p:spPr>
        <p:txBody>
          <a:bodyPr wrap="square" rtlCol="0" anchor="ctr"/>
          <a:lstStyle/>
          <a:p>
            <a:pPr indent="0" marL="0">
              <a:buNone/>
            </a:pPr>
            <a:r>
              <a:rPr lang="en-US" sz="1100" b="1" spc="200" kern="0" dirty="0">
                <a:solidFill>
                  <a:srgbClr val="38BDF8"/>
                </a:solidFill>
              </a:rPr>
              <a:t>S4 — BẢNG SO SÁNH TỔNG QUAN</a:t>
            </a:r>
            <a:endParaRPr lang="en-US" sz="1100" dirty="0"/>
          </a:p>
        </p:txBody>
      </p:sp>
      <p:sp>
        <p:nvSpPr>
          <p:cNvPr id="3" name="Text 1"/>
          <p:cNvSpPr/>
          <p:nvPr/>
        </p:nvSpPr>
        <p:spPr>
          <a:xfrm>
            <a:off x="457200" y="457200"/>
            <a:ext cx="8229600" cy="438912"/>
          </a:xfrm>
          <a:prstGeom prst="rect">
            <a:avLst/>
          </a:prstGeom>
          <a:noFill/>
          <a:ln/>
        </p:spPr>
        <p:txBody>
          <a:bodyPr wrap="square" rtlCol="0" anchor="ctr"/>
          <a:lstStyle/>
          <a:p>
            <a:pPr indent="0" marL="0">
              <a:buNone/>
            </a:pPr>
            <a:r>
              <a:rPr lang="en-US" sz="2600" b="1" dirty="0">
                <a:solidFill>
                  <a:srgbClr val="FFFFFF"/>
                </a:solidFill>
              </a:rPr>
              <a:t>ChatGPT vs Jasper AI</a:t>
            </a:r>
            <a:endParaRPr lang="en-US" sz="2600" dirty="0"/>
          </a:p>
        </p:txBody>
      </p:sp>
      <p:sp>
        <p:nvSpPr>
          <p:cNvPr id="4" name="Shape 2"/>
          <p:cNvSpPr/>
          <p:nvPr/>
        </p:nvSpPr>
        <p:spPr>
          <a:xfrm>
            <a:off x="411480" y="1097280"/>
            <a:ext cx="2880360" cy="457200"/>
          </a:xfrm>
          <a:prstGeom prst="rect">
            <a:avLst/>
          </a:prstGeom>
          <a:solidFill>
            <a:srgbClr val="38BDF8"/>
          </a:solidFill>
          <a:ln w="12700">
            <a:solidFill>
              <a:srgbClr val="38BDF8"/>
            </a:solidFill>
            <a:prstDash val="solid"/>
          </a:ln>
        </p:spPr>
      </p:sp>
      <p:sp>
        <p:nvSpPr>
          <p:cNvPr id="5" name="Text 3"/>
          <p:cNvSpPr/>
          <p:nvPr/>
        </p:nvSpPr>
        <p:spPr>
          <a:xfrm>
            <a:off x="502920" y="1143000"/>
            <a:ext cx="2697480" cy="365760"/>
          </a:xfrm>
          <a:prstGeom prst="rect">
            <a:avLst/>
          </a:prstGeom>
          <a:noFill/>
          <a:ln/>
        </p:spPr>
        <p:txBody>
          <a:bodyPr wrap="square" rtlCol="0" anchor="ctr"/>
          <a:lstStyle/>
          <a:p>
            <a:pPr algn="ctr" indent="0" marL="0">
              <a:buNone/>
            </a:pPr>
            <a:r>
              <a:rPr lang="en-US" sz="1300" b="1" dirty="0">
                <a:solidFill>
                  <a:srgbClr val="0F172A"/>
                </a:solidFill>
              </a:rPr>
              <a:t>Tiêu chí</a:t>
            </a:r>
            <a:endParaRPr lang="en-US" sz="1300" dirty="0"/>
          </a:p>
        </p:txBody>
      </p:sp>
      <p:sp>
        <p:nvSpPr>
          <p:cNvPr id="6" name="Shape 4"/>
          <p:cNvSpPr/>
          <p:nvPr/>
        </p:nvSpPr>
        <p:spPr>
          <a:xfrm>
            <a:off x="3383280" y="1097280"/>
            <a:ext cx="2926080" cy="457200"/>
          </a:xfrm>
          <a:prstGeom prst="rect">
            <a:avLst/>
          </a:prstGeom>
          <a:solidFill>
            <a:srgbClr val="38BDF8"/>
          </a:solidFill>
          <a:ln w="12700">
            <a:solidFill>
              <a:srgbClr val="38BDF8"/>
            </a:solidFill>
            <a:prstDash val="solid"/>
          </a:ln>
        </p:spPr>
      </p:sp>
      <p:sp>
        <p:nvSpPr>
          <p:cNvPr id="7" name="Text 5"/>
          <p:cNvSpPr/>
          <p:nvPr/>
        </p:nvSpPr>
        <p:spPr>
          <a:xfrm>
            <a:off x="3474720" y="1143000"/>
            <a:ext cx="2743200" cy="365760"/>
          </a:xfrm>
          <a:prstGeom prst="rect">
            <a:avLst/>
          </a:prstGeom>
          <a:noFill/>
          <a:ln/>
        </p:spPr>
        <p:txBody>
          <a:bodyPr wrap="square" rtlCol="0" anchor="ctr"/>
          <a:lstStyle/>
          <a:p>
            <a:pPr algn="ctr" indent="0" marL="0">
              <a:buNone/>
            </a:pPr>
            <a:r>
              <a:rPr lang="en-US" sz="1300" b="1" dirty="0">
                <a:solidFill>
                  <a:srgbClr val="0F172A"/>
                </a:solidFill>
              </a:rPr>
              <a:t>ChatGPT (A)</a:t>
            </a:r>
            <a:endParaRPr lang="en-US" sz="1300" dirty="0"/>
          </a:p>
        </p:txBody>
      </p:sp>
      <p:sp>
        <p:nvSpPr>
          <p:cNvPr id="8" name="Shape 6"/>
          <p:cNvSpPr/>
          <p:nvPr/>
        </p:nvSpPr>
        <p:spPr>
          <a:xfrm>
            <a:off x="6400800" y="1097280"/>
            <a:ext cx="2651760" cy="457200"/>
          </a:xfrm>
          <a:prstGeom prst="rect">
            <a:avLst/>
          </a:prstGeom>
          <a:solidFill>
            <a:srgbClr val="38BDF8"/>
          </a:solidFill>
          <a:ln w="12700">
            <a:solidFill>
              <a:srgbClr val="38BDF8"/>
            </a:solidFill>
            <a:prstDash val="solid"/>
          </a:ln>
        </p:spPr>
      </p:sp>
      <p:sp>
        <p:nvSpPr>
          <p:cNvPr id="9" name="Text 7"/>
          <p:cNvSpPr/>
          <p:nvPr/>
        </p:nvSpPr>
        <p:spPr>
          <a:xfrm>
            <a:off x="6492240" y="1143000"/>
            <a:ext cx="2468880" cy="365760"/>
          </a:xfrm>
          <a:prstGeom prst="rect">
            <a:avLst/>
          </a:prstGeom>
          <a:noFill/>
          <a:ln/>
        </p:spPr>
        <p:txBody>
          <a:bodyPr wrap="square" rtlCol="0" anchor="ctr"/>
          <a:lstStyle/>
          <a:p>
            <a:pPr algn="ctr" indent="0" marL="0">
              <a:buNone/>
            </a:pPr>
            <a:r>
              <a:rPr lang="en-US" sz="1300" b="1" dirty="0">
                <a:solidFill>
                  <a:srgbClr val="0F172A"/>
                </a:solidFill>
              </a:rPr>
              <a:t>Jasper AI (B)</a:t>
            </a:r>
            <a:endParaRPr lang="en-US" sz="1300" dirty="0"/>
          </a:p>
        </p:txBody>
      </p:sp>
      <p:sp>
        <p:nvSpPr>
          <p:cNvPr id="10" name="Shape 8"/>
          <p:cNvSpPr/>
          <p:nvPr/>
        </p:nvSpPr>
        <p:spPr>
          <a:xfrm>
            <a:off x="411480" y="1554480"/>
            <a:ext cx="2880360" cy="685800"/>
          </a:xfrm>
          <a:prstGeom prst="rect">
            <a:avLst/>
          </a:prstGeom>
          <a:solidFill>
            <a:srgbClr val="1E293B"/>
          </a:solidFill>
          <a:ln w="12700">
            <a:solidFill>
              <a:srgbClr val="334155"/>
            </a:solidFill>
            <a:prstDash val="solid"/>
          </a:ln>
        </p:spPr>
      </p:sp>
      <p:sp>
        <p:nvSpPr>
          <p:cNvPr id="11" name="Text 9"/>
          <p:cNvSpPr/>
          <p:nvPr/>
        </p:nvSpPr>
        <p:spPr>
          <a:xfrm>
            <a:off x="502920" y="1600200"/>
            <a:ext cx="2697480" cy="594360"/>
          </a:xfrm>
          <a:prstGeom prst="rect">
            <a:avLst/>
          </a:prstGeom>
          <a:noFill/>
          <a:ln/>
        </p:spPr>
        <p:txBody>
          <a:bodyPr wrap="square" rtlCol="0" anchor="ctr"/>
          <a:lstStyle/>
          <a:p>
            <a:pPr algn="l" indent="0" marL="0">
              <a:buNone/>
            </a:pPr>
            <a:r>
              <a:rPr lang="en-US" sz="1300" b="1" dirty="0">
                <a:solidFill>
                  <a:srgbClr val="38BDF8"/>
                </a:solidFill>
              </a:rPr>
              <a:t>Dễ sử dụng</a:t>
            </a:r>
            <a:endParaRPr lang="en-US" sz="1300" dirty="0"/>
          </a:p>
        </p:txBody>
      </p:sp>
      <p:sp>
        <p:nvSpPr>
          <p:cNvPr id="12" name="Shape 10"/>
          <p:cNvSpPr/>
          <p:nvPr/>
        </p:nvSpPr>
        <p:spPr>
          <a:xfrm>
            <a:off x="3383280" y="1554480"/>
            <a:ext cx="2926080" cy="685800"/>
          </a:xfrm>
          <a:prstGeom prst="rect">
            <a:avLst/>
          </a:prstGeom>
          <a:solidFill>
            <a:srgbClr val="1E293B"/>
          </a:solidFill>
          <a:ln w="12700">
            <a:solidFill>
              <a:srgbClr val="334155"/>
            </a:solidFill>
            <a:prstDash val="solid"/>
          </a:ln>
        </p:spPr>
      </p:sp>
      <p:sp>
        <p:nvSpPr>
          <p:cNvPr id="13" name="Text 11"/>
          <p:cNvSpPr/>
          <p:nvPr/>
        </p:nvSpPr>
        <p:spPr>
          <a:xfrm>
            <a:off x="3474720" y="1600200"/>
            <a:ext cx="2743200" cy="594360"/>
          </a:xfrm>
          <a:prstGeom prst="rect">
            <a:avLst/>
          </a:prstGeom>
          <a:noFill/>
          <a:ln/>
        </p:spPr>
        <p:txBody>
          <a:bodyPr wrap="square" rtlCol="0" anchor="ctr"/>
          <a:lstStyle/>
          <a:p>
            <a:pPr algn="ctr" indent="0" marL="0">
              <a:buNone/>
            </a:pPr>
            <a:r>
              <a:rPr lang="en-US" sz="1200" dirty="0">
                <a:solidFill>
                  <a:srgbClr val="FFFFFF"/>
                </a:solidFill>
              </a:rPr>
              <a:t>⭐⭐⭐⭐⭐  5/5</a:t>
            </a:r>
            <a:endParaRPr lang="en-US" sz="1200" dirty="0"/>
          </a:p>
          <a:p>
            <a:pPr algn="ctr" indent="0" marL="0">
              <a:buNone/>
            </a:pPr>
            <a:r>
              <a:rPr lang="en-US" sz="1200" dirty="0">
                <a:solidFill>
                  <a:srgbClr val="FFFFFF"/>
                </a:solidFill>
              </a:rPr>
              <a:t>Tự nhiên như chat</a:t>
            </a:r>
            <a:endParaRPr lang="en-US" sz="1200" dirty="0"/>
          </a:p>
        </p:txBody>
      </p:sp>
      <p:sp>
        <p:nvSpPr>
          <p:cNvPr id="14" name="Shape 12"/>
          <p:cNvSpPr/>
          <p:nvPr/>
        </p:nvSpPr>
        <p:spPr>
          <a:xfrm>
            <a:off x="6400800" y="1554480"/>
            <a:ext cx="2651760" cy="685800"/>
          </a:xfrm>
          <a:prstGeom prst="rect">
            <a:avLst/>
          </a:prstGeom>
          <a:solidFill>
            <a:srgbClr val="1E293B"/>
          </a:solidFill>
          <a:ln w="12700">
            <a:solidFill>
              <a:srgbClr val="334155"/>
            </a:solidFill>
            <a:prstDash val="solid"/>
          </a:ln>
        </p:spPr>
      </p:sp>
      <p:sp>
        <p:nvSpPr>
          <p:cNvPr id="15" name="Text 13"/>
          <p:cNvSpPr/>
          <p:nvPr/>
        </p:nvSpPr>
        <p:spPr>
          <a:xfrm>
            <a:off x="6492240" y="1600200"/>
            <a:ext cx="2468880" cy="594360"/>
          </a:xfrm>
          <a:prstGeom prst="rect">
            <a:avLst/>
          </a:prstGeom>
          <a:noFill/>
          <a:ln/>
        </p:spPr>
        <p:txBody>
          <a:bodyPr wrap="square" rtlCol="0" anchor="ctr"/>
          <a:lstStyle/>
          <a:p>
            <a:pPr algn="ctr" indent="0" marL="0">
              <a:buNone/>
            </a:pPr>
            <a:r>
              <a:rPr lang="en-US" sz="1200" dirty="0">
                <a:solidFill>
                  <a:srgbClr val="FFFFFF"/>
                </a:solidFill>
              </a:rPr>
              <a:t>⭐⭐⭐⭐  4/5</a:t>
            </a:r>
            <a:endParaRPr lang="en-US" sz="1200" dirty="0"/>
          </a:p>
          <a:p>
            <a:pPr algn="ctr" indent="0" marL="0">
              <a:buNone/>
            </a:pPr>
            <a:r>
              <a:rPr lang="en-US" sz="1200" dirty="0">
                <a:solidFill>
                  <a:srgbClr val="FFFFFF"/>
                </a:solidFill>
              </a:rPr>
              <a:t>Cần làm quen UI</a:t>
            </a:r>
            <a:endParaRPr lang="en-US" sz="1200" dirty="0"/>
          </a:p>
        </p:txBody>
      </p:sp>
      <p:sp>
        <p:nvSpPr>
          <p:cNvPr id="16" name="Shape 14"/>
          <p:cNvSpPr/>
          <p:nvPr/>
        </p:nvSpPr>
        <p:spPr>
          <a:xfrm>
            <a:off x="411480" y="2240280"/>
            <a:ext cx="2880360" cy="685800"/>
          </a:xfrm>
          <a:prstGeom prst="rect">
            <a:avLst/>
          </a:prstGeom>
          <a:solidFill>
            <a:srgbClr val="263040"/>
          </a:solidFill>
          <a:ln w="12700">
            <a:solidFill>
              <a:srgbClr val="334155"/>
            </a:solidFill>
            <a:prstDash val="solid"/>
          </a:ln>
        </p:spPr>
      </p:sp>
      <p:sp>
        <p:nvSpPr>
          <p:cNvPr id="17" name="Text 15"/>
          <p:cNvSpPr/>
          <p:nvPr/>
        </p:nvSpPr>
        <p:spPr>
          <a:xfrm>
            <a:off x="502920" y="2286000"/>
            <a:ext cx="2697480" cy="594360"/>
          </a:xfrm>
          <a:prstGeom prst="rect">
            <a:avLst/>
          </a:prstGeom>
          <a:noFill/>
          <a:ln/>
        </p:spPr>
        <p:txBody>
          <a:bodyPr wrap="square" rtlCol="0" anchor="ctr"/>
          <a:lstStyle/>
          <a:p>
            <a:pPr algn="l" indent="0" marL="0">
              <a:buNone/>
            </a:pPr>
            <a:r>
              <a:rPr lang="en-US" sz="1300" b="1" dirty="0">
                <a:solidFill>
                  <a:srgbClr val="38BDF8"/>
                </a:solidFill>
              </a:rPr>
              <a:t>Giá thành</a:t>
            </a:r>
            <a:endParaRPr lang="en-US" sz="1300" dirty="0"/>
          </a:p>
        </p:txBody>
      </p:sp>
      <p:sp>
        <p:nvSpPr>
          <p:cNvPr id="18" name="Shape 16"/>
          <p:cNvSpPr/>
          <p:nvPr/>
        </p:nvSpPr>
        <p:spPr>
          <a:xfrm>
            <a:off x="3383280" y="2240280"/>
            <a:ext cx="2926080" cy="685800"/>
          </a:xfrm>
          <a:prstGeom prst="rect">
            <a:avLst/>
          </a:prstGeom>
          <a:solidFill>
            <a:srgbClr val="263040"/>
          </a:solidFill>
          <a:ln w="12700">
            <a:solidFill>
              <a:srgbClr val="334155"/>
            </a:solidFill>
            <a:prstDash val="solid"/>
          </a:ln>
        </p:spPr>
      </p:sp>
      <p:sp>
        <p:nvSpPr>
          <p:cNvPr id="19" name="Text 17"/>
          <p:cNvSpPr/>
          <p:nvPr/>
        </p:nvSpPr>
        <p:spPr>
          <a:xfrm>
            <a:off x="3474720" y="2286000"/>
            <a:ext cx="2743200" cy="594360"/>
          </a:xfrm>
          <a:prstGeom prst="rect">
            <a:avLst/>
          </a:prstGeom>
          <a:noFill/>
          <a:ln/>
        </p:spPr>
        <p:txBody>
          <a:bodyPr wrap="square" rtlCol="0" anchor="ctr"/>
          <a:lstStyle/>
          <a:p>
            <a:pPr algn="ctr" indent="0" marL="0">
              <a:buNone/>
            </a:pPr>
            <a:r>
              <a:rPr lang="en-US" sz="1200" dirty="0">
                <a:solidFill>
                  <a:srgbClr val="FFFFFF"/>
                </a:solidFill>
              </a:rPr>
              <a:t>Miễn phí</a:t>
            </a:r>
            <a:endParaRPr lang="en-US" sz="1200" dirty="0"/>
          </a:p>
          <a:p>
            <a:pPr algn="ctr" indent="0" marL="0">
              <a:buNone/>
            </a:pPr>
            <a:r>
              <a:rPr lang="en-US" sz="1200" dirty="0">
                <a:solidFill>
                  <a:srgbClr val="FFFFFF"/>
                </a:solidFill>
              </a:rPr>
              <a:t>hoặc $20/tháng</a:t>
            </a:r>
            <a:endParaRPr lang="en-US" sz="1200" dirty="0"/>
          </a:p>
        </p:txBody>
      </p:sp>
      <p:sp>
        <p:nvSpPr>
          <p:cNvPr id="20" name="Shape 18"/>
          <p:cNvSpPr/>
          <p:nvPr/>
        </p:nvSpPr>
        <p:spPr>
          <a:xfrm>
            <a:off x="6400800" y="2240280"/>
            <a:ext cx="2651760" cy="685800"/>
          </a:xfrm>
          <a:prstGeom prst="rect">
            <a:avLst/>
          </a:prstGeom>
          <a:solidFill>
            <a:srgbClr val="263040"/>
          </a:solidFill>
          <a:ln w="12700">
            <a:solidFill>
              <a:srgbClr val="334155"/>
            </a:solidFill>
            <a:prstDash val="solid"/>
          </a:ln>
        </p:spPr>
      </p:sp>
      <p:sp>
        <p:nvSpPr>
          <p:cNvPr id="21" name="Text 19"/>
          <p:cNvSpPr/>
          <p:nvPr/>
        </p:nvSpPr>
        <p:spPr>
          <a:xfrm>
            <a:off x="6492240" y="2286000"/>
            <a:ext cx="2468880" cy="594360"/>
          </a:xfrm>
          <a:prstGeom prst="rect">
            <a:avLst/>
          </a:prstGeom>
          <a:noFill/>
          <a:ln/>
        </p:spPr>
        <p:txBody>
          <a:bodyPr wrap="square" rtlCol="0" anchor="ctr"/>
          <a:lstStyle/>
          <a:p>
            <a:pPr algn="ctr" indent="0" marL="0">
              <a:buNone/>
            </a:pPr>
            <a:r>
              <a:rPr lang="en-US" sz="1200" dirty="0">
                <a:solidFill>
                  <a:srgbClr val="FFFFFF"/>
                </a:solidFill>
              </a:rPr>
              <a:t>~$39/tháng</a:t>
            </a:r>
            <a:endParaRPr lang="en-US" sz="1200" dirty="0"/>
          </a:p>
          <a:p>
            <a:pPr algn="ctr" indent="0" marL="0">
              <a:buNone/>
            </a:pPr>
            <a:r>
              <a:rPr lang="en-US" sz="1200" dirty="0">
                <a:solidFill>
                  <a:srgbClr val="FFFFFF"/>
                </a:solidFill>
              </a:rPr>
              <a:t>(gói cơ bản)</a:t>
            </a:r>
            <a:endParaRPr lang="en-US" sz="1200" dirty="0"/>
          </a:p>
        </p:txBody>
      </p:sp>
      <p:sp>
        <p:nvSpPr>
          <p:cNvPr id="22" name="Shape 20"/>
          <p:cNvSpPr/>
          <p:nvPr/>
        </p:nvSpPr>
        <p:spPr>
          <a:xfrm>
            <a:off x="411480" y="2926080"/>
            <a:ext cx="2880360" cy="685800"/>
          </a:xfrm>
          <a:prstGeom prst="rect">
            <a:avLst/>
          </a:prstGeom>
          <a:solidFill>
            <a:srgbClr val="1E293B"/>
          </a:solidFill>
          <a:ln w="12700">
            <a:solidFill>
              <a:srgbClr val="334155"/>
            </a:solidFill>
            <a:prstDash val="solid"/>
          </a:ln>
        </p:spPr>
      </p:sp>
      <p:sp>
        <p:nvSpPr>
          <p:cNvPr id="23" name="Text 21"/>
          <p:cNvSpPr/>
          <p:nvPr/>
        </p:nvSpPr>
        <p:spPr>
          <a:xfrm>
            <a:off x="502920" y="2971800"/>
            <a:ext cx="2697480" cy="594360"/>
          </a:xfrm>
          <a:prstGeom prst="rect">
            <a:avLst/>
          </a:prstGeom>
          <a:noFill/>
          <a:ln/>
        </p:spPr>
        <p:txBody>
          <a:bodyPr wrap="square" rtlCol="0" anchor="ctr"/>
          <a:lstStyle/>
          <a:p>
            <a:pPr algn="l" indent="0" marL="0">
              <a:buNone/>
            </a:pPr>
            <a:r>
              <a:rPr lang="en-US" sz="1300" b="1" dirty="0">
                <a:solidFill>
                  <a:srgbClr val="38BDF8"/>
                </a:solidFill>
              </a:rPr>
              <a:t>Tính chuyên biệt</a:t>
            </a:r>
            <a:endParaRPr lang="en-US" sz="1300" dirty="0"/>
          </a:p>
        </p:txBody>
      </p:sp>
      <p:sp>
        <p:nvSpPr>
          <p:cNvPr id="24" name="Shape 22"/>
          <p:cNvSpPr/>
          <p:nvPr/>
        </p:nvSpPr>
        <p:spPr>
          <a:xfrm>
            <a:off x="3383280" y="2926080"/>
            <a:ext cx="2926080" cy="685800"/>
          </a:xfrm>
          <a:prstGeom prst="rect">
            <a:avLst/>
          </a:prstGeom>
          <a:solidFill>
            <a:srgbClr val="1E293B"/>
          </a:solidFill>
          <a:ln w="12700">
            <a:solidFill>
              <a:srgbClr val="334155"/>
            </a:solidFill>
            <a:prstDash val="solid"/>
          </a:ln>
        </p:spPr>
      </p:sp>
      <p:sp>
        <p:nvSpPr>
          <p:cNvPr id="25" name="Text 23"/>
          <p:cNvSpPr/>
          <p:nvPr/>
        </p:nvSpPr>
        <p:spPr>
          <a:xfrm>
            <a:off x="3474720" y="2971800"/>
            <a:ext cx="2743200" cy="594360"/>
          </a:xfrm>
          <a:prstGeom prst="rect">
            <a:avLst/>
          </a:prstGeom>
          <a:noFill/>
          <a:ln/>
        </p:spPr>
        <p:txBody>
          <a:bodyPr wrap="square" rtlCol="0" anchor="ctr"/>
          <a:lstStyle/>
          <a:p>
            <a:pPr algn="ctr" indent="0" marL="0">
              <a:buNone/>
            </a:pPr>
            <a:r>
              <a:rPr lang="en-US" sz="1200" dirty="0">
                <a:solidFill>
                  <a:srgbClr val="FFFFFF"/>
                </a:solidFill>
              </a:rPr>
              <a:t>Đa dụng</a:t>
            </a:r>
            <a:endParaRPr lang="en-US" sz="1200" dirty="0"/>
          </a:p>
          <a:p>
            <a:pPr algn="ctr" indent="0" marL="0">
              <a:buNone/>
            </a:pPr>
            <a:r>
              <a:rPr lang="en-US" sz="1200" dirty="0">
                <a:solidFill>
                  <a:srgbClr val="FFFFFF"/>
                </a:solidFill>
              </a:rPr>
              <a:t>(General Purpose)</a:t>
            </a:r>
            <a:endParaRPr lang="en-US" sz="1200" dirty="0"/>
          </a:p>
        </p:txBody>
      </p:sp>
      <p:sp>
        <p:nvSpPr>
          <p:cNvPr id="26" name="Shape 24"/>
          <p:cNvSpPr/>
          <p:nvPr/>
        </p:nvSpPr>
        <p:spPr>
          <a:xfrm>
            <a:off x="6400800" y="2926080"/>
            <a:ext cx="2651760" cy="685800"/>
          </a:xfrm>
          <a:prstGeom prst="rect">
            <a:avLst/>
          </a:prstGeom>
          <a:solidFill>
            <a:srgbClr val="1E293B"/>
          </a:solidFill>
          <a:ln w="12700">
            <a:solidFill>
              <a:srgbClr val="334155"/>
            </a:solidFill>
            <a:prstDash val="solid"/>
          </a:ln>
        </p:spPr>
      </p:sp>
      <p:sp>
        <p:nvSpPr>
          <p:cNvPr id="27" name="Text 25"/>
          <p:cNvSpPr/>
          <p:nvPr/>
        </p:nvSpPr>
        <p:spPr>
          <a:xfrm>
            <a:off x="6492240" y="2971800"/>
            <a:ext cx="2468880" cy="594360"/>
          </a:xfrm>
          <a:prstGeom prst="rect">
            <a:avLst/>
          </a:prstGeom>
          <a:noFill/>
          <a:ln/>
        </p:spPr>
        <p:txBody>
          <a:bodyPr wrap="square" rtlCol="0" anchor="ctr"/>
          <a:lstStyle/>
          <a:p>
            <a:pPr algn="ctr" indent="0" marL="0">
              <a:buNone/>
            </a:pPr>
            <a:r>
              <a:rPr lang="en-US" sz="1200" dirty="0">
                <a:solidFill>
                  <a:srgbClr val="FFFFFF"/>
                </a:solidFill>
              </a:rPr>
              <a:t>Chuyên Marketing</a:t>
            </a:r>
            <a:endParaRPr lang="en-US" sz="1200" dirty="0"/>
          </a:p>
          <a:p>
            <a:pPr algn="ctr" indent="0" marL="0">
              <a:buNone/>
            </a:pPr>
            <a:r>
              <a:rPr lang="en-US" sz="1200" dirty="0">
                <a:solidFill>
                  <a:srgbClr val="FFFFFF"/>
                </a:solidFill>
              </a:rPr>
              <a:t>&amp; Blog</a:t>
            </a:r>
            <a:endParaRPr lang="en-US" sz="1200" dirty="0"/>
          </a:p>
        </p:txBody>
      </p:sp>
      <p:sp>
        <p:nvSpPr>
          <p:cNvPr id="28" name="Shape 26"/>
          <p:cNvSpPr/>
          <p:nvPr/>
        </p:nvSpPr>
        <p:spPr>
          <a:xfrm>
            <a:off x="411480" y="3611880"/>
            <a:ext cx="2880360" cy="685800"/>
          </a:xfrm>
          <a:prstGeom prst="rect">
            <a:avLst/>
          </a:prstGeom>
          <a:solidFill>
            <a:srgbClr val="263040"/>
          </a:solidFill>
          <a:ln w="12700">
            <a:solidFill>
              <a:srgbClr val="334155"/>
            </a:solidFill>
            <a:prstDash val="solid"/>
          </a:ln>
        </p:spPr>
      </p:sp>
      <p:sp>
        <p:nvSpPr>
          <p:cNvPr id="29" name="Text 27"/>
          <p:cNvSpPr/>
          <p:nvPr/>
        </p:nvSpPr>
        <p:spPr>
          <a:xfrm>
            <a:off x="502920" y="3657600"/>
            <a:ext cx="2697480" cy="594360"/>
          </a:xfrm>
          <a:prstGeom prst="rect">
            <a:avLst/>
          </a:prstGeom>
          <a:noFill/>
          <a:ln/>
        </p:spPr>
        <p:txBody>
          <a:bodyPr wrap="square" rtlCol="0" anchor="ctr"/>
          <a:lstStyle/>
          <a:p>
            <a:pPr algn="l" indent="0" marL="0">
              <a:buNone/>
            </a:pPr>
            <a:r>
              <a:rPr lang="en-US" sz="1300" b="1" dirty="0">
                <a:solidFill>
                  <a:srgbClr val="38BDF8"/>
                </a:solidFill>
              </a:rPr>
              <a:t>Chất lượng text</a:t>
            </a:r>
            <a:endParaRPr lang="en-US" sz="1300" dirty="0"/>
          </a:p>
        </p:txBody>
      </p:sp>
      <p:sp>
        <p:nvSpPr>
          <p:cNvPr id="30" name="Shape 28"/>
          <p:cNvSpPr/>
          <p:nvPr/>
        </p:nvSpPr>
        <p:spPr>
          <a:xfrm>
            <a:off x="3383280" y="3611880"/>
            <a:ext cx="2926080" cy="685800"/>
          </a:xfrm>
          <a:prstGeom prst="rect">
            <a:avLst/>
          </a:prstGeom>
          <a:solidFill>
            <a:srgbClr val="263040"/>
          </a:solidFill>
          <a:ln w="12700">
            <a:solidFill>
              <a:srgbClr val="334155"/>
            </a:solidFill>
            <a:prstDash val="solid"/>
          </a:ln>
        </p:spPr>
      </p:sp>
      <p:sp>
        <p:nvSpPr>
          <p:cNvPr id="31" name="Text 29"/>
          <p:cNvSpPr/>
          <p:nvPr/>
        </p:nvSpPr>
        <p:spPr>
          <a:xfrm>
            <a:off x="3474720" y="3657600"/>
            <a:ext cx="2743200" cy="594360"/>
          </a:xfrm>
          <a:prstGeom prst="rect">
            <a:avLst/>
          </a:prstGeom>
          <a:noFill/>
          <a:ln/>
        </p:spPr>
        <p:txBody>
          <a:bodyPr wrap="square" rtlCol="0" anchor="ctr"/>
          <a:lstStyle/>
          <a:p>
            <a:pPr algn="ctr" indent="0" marL="0">
              <a:buNone/>
            </a:pPr>
            <a:r>
              <a:rPr lang="en-US" sz="1200" dirty="0">
                <a:solidFill>
                  <a:srgbClr val="FFFFFF"/>
                </a:solidFill>
              </a:rPr>
              <a:t>⭐⭐⭐⭐⭐  5/5</a:t>
            </a:r>
            <a:endParaRPr lang="en-US" sz="1200" dirty="0"/>
          </a:p>
          <a:p>
            <a:pPr algn="ctr" indent="0" marL="0">
              <a:buNone/>
            </a:pPr>
            <a:r>
              <a:rPr lang="en-US" sz="1200" dirty="0">
                <a:solidFill>
                  <a:srgbClr val="FFFFFF"/>
                </a:solidFill>
              </a:rPr>
              <a:t>SOTA mới nhất</a:t>
            </a:r>
            <a:endParaRPr lang="en-US" sz="1200" dirty="0"/>
          </a:p>
        </p:txBody>
      </p:sp>
      <p:sp>
        <p:nvSpPr>
          <p:cNvPr id="32" name="Shape 30"/>
          <p:cNvSpPr/>
          <p:nvPr/>
        </p:nvSpPr>
        <p:spPr>
          <a:xfrm>
            <a:off x="6400800" y="3611880"/>
            <a:ext cx="2651760" cy="685800"/>
          </a:xfrm>
          <a:prstGeom prst="rect">
            <a:avLst/>
          </a:prstGeom>
          <a:solidFill>
            <a:srgbClr val="263040"/>
          </a:solidFill>
          <a:ln w="12700">
            <a:solidFill>
              <a:srgbClr val="334155"/>
            </a:solidFill>
            <a:prstDash val="solid"/>
          </a:ln>
        </p:spPr>
      </p:sp>
      <p:sp>
        <p:nvSpPr>
          <p:cNvPr id="33" name="Text 31"/>
          <p:cNvSpPr/>
          <p:nvPr/>
        </p:nvSpPr>
        <p:spPr>
          <a:xfrm>
            <a:off x="6492240" y="3657600"/>
            <a:ext cx="2468880" cy="594360"/>
          </a:xfrm>
          <a:prstGeom prst="rect">
            <a:avLst/>
          </a:prstGeom>
          <a:noFill/>
          <a:ln/>
        </p:spPr>
        <p:txBody>
          <a:bodyPr wrap="square" rtlCol="0" anchor="ctr"/>
          <a:lstStyle/>
          <a:p>
            <a:pPr algn="ctr" indent="0" marL="0">
              <a:buNone/>
            </a:pPr>
            <a:r>
              <a:rPr lang="en-US" sz="1200" dirty="0">
                <a:solidFill>
                  <a:srgbClr val="FFFFFF"/>
                </a:solidFill>
              </a:rPr>
              <a:t>⭐⭐⭐⭐  4/5</a:t>
            </a:r>
            <a:endParaRPr lang="en-US" sz="1200" dirty="0"/>
          </a:p>
          <a:p>
            <a:pPr algn="ctr" indent="0" marL="0">
              <a:buNone/>
            </a:pPr>
            <a:r>
              <a:rPr lang="en-US" sz="1200" dirty="0">
                <a:solidFill>
                  <a:srgbClr val="FFFFFF"/>
                </a:solidFill>
              </a:rPr>
              <a:t>Phụ thuộc model nền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457200" y="73152"/>
            <a:ext cx="8229600" cy="365760"/>
          </a:xfrm>
          <a:prstGeom prst="rect">
            <a:avLst/>
          </a:prstGeom>
          <a:noFill/>
          <a:ln/>
        </p:spPr>
        <p:txBody>
          <a:bodyPr wrap="square" rtlCol="0" anchor="ctr"/>
          <a:lstStyle/>
          <a:p>
            <a:pPr indent="0" marL="0">
              <a:buNone/>
            </a:pPr>
            <a:r>
              <a:rPr lang="en-US" sz="1100" b="1" spc="200" kern="0" dirty="0">
                <a:solidFill>
                  <a:srgbClr val="38BDF8"/>
                </a:solidFill>
              </a:rPr>
              <a:t>S5.1 &amp; S5.2 — VERDICT &amp; QUY MÔ</a:t>
            </a:r>
            <a:endParaRPr lang="en-US" sz="1100" dirty="0"/>
          </a:p>
        </p:txBody>
      </p:sp>
      <p:sp>
        <p:nvSpPr>
          <p:cNvPr id="4" name="Text 2"/>
          <p:cNvSpPr/>
          <p:nvPr/>
        </p:nvSpPr>
        <p:spPr>
          <a:xfrm>
            <a:off x="457200" y="438912"/>
            <a:ext cx="8229600" cy="365760"/>
          </a:xfrm>
          <a:prstGeom prst="rect">
            <a:avLst/>
          </a:prstGeom>
          <a:noFill/>
          <a:ln/>
        </p:spPr>
        <p:txBody>
          <a:bodyPr wrap="square" rtlCol="0" anchor="ctr"/>
          <a:lstStyle/>
          <a:p>
            <a:pPr indent="0" marL="0">
              <a:buNone/>
            </a:pPr>
            <a:r>
              <a:rPr lang="en-US" sz="2000" b="1" dirty="0">
                <a:solidFill>
                  <a:srgbClr val="FFFFFF"/>
                </a:solidFill>
              </a:rPr>
              <a:t>Phán quyết &amp; Tầm vóc thị trường</a:t>
            </a:r>
            <a:endParaRPr lang="en-US" sz="2000" dirty="0"/>
          </a:p>
        </p:txBody>
      </p:sp>
      <p:sp>
        <p:nvSpPr>
          <p:cNvPr id="5" name="Shape 3"/>
          <p:cNvSpPr/>
          <p:nvPr/>
        </p:nvSpPr>
        <p:spPr>
          <a:xfrm>
            <a:off x="411480" y="1005840"/>
            <a:ext cx="3931920" cy="1828800"/>
          </a:xfrm>
          <a:prstGeom prst="rect">
            <a:avLst/>
          </a:prstGeom>
          <a:solidFill>
            <a:srgbClr val="FFFFFF"/>
          </a:solidFill>
          <a:ln w="12700">
            <a:solidFill>
              <a:srgbClr val="BBF7D0"/>
            </a:solidFill>
            <a:prstDash val="solid"/>
          </a:ln>
        </p:spPr>
      </p:sp>
      <p:sp>
        <p:nvSpPr>
          <p:cNvPr id="6" name="Shape 4"/>
          <p:cNvSpPr/>
          <p:nvPr/>
        </p:nvSpPr>
        <p:spPr>
          <a:xfrm>
            <a:off x="411480" y="1005840"/>
            <a:ext cx="3931920" cy="384048"/>
          </a:xfrm>
          <a:prstGeom prst="rect">
            <a:avLst/>
          </a:prstGeom>
          <a:solidFill>
            <a:srgbClr val="16A34A"/>
          </a:solidFill>
          <a:ln w="12700">
            <a:solidFill>
              <a:srgbClr val="16A34A"/>
            </a:solidFill>
            <a:prstDash val="solid"/>
          </a:ln>
        </p:spPr>
      </p:sp>
      <p:sp>
        <p:nvSpPr>
          <p:cNvPr id="7" name="Text 5"/>
          <p:cNvSpPr/>
          <p:nvPr/>
        </p:nvSpPr>
        <p:spPr>
          <a:xfrm>
            <a:off x="502920" y="1051560"/>
            <a:ext cx="3749040" cy="292608"/>
          </a:xfrm>
          <a:prstGeom prst="rect">
            <a:avLst/>
          </a:prstGeom>
          <a:noFill/>
          <a:ln/>
        </p:spPr>
        <p:txBody>
          <a:bodyPr wrap="square" rtlCol="0" anchor="ctr"/>
          <a:lstStyle/>
          <a:p>
            <a:pPr indent="0" marL="0">
              <a:buNone/>
            </a:pPr>
            <a:r>
              <a:rPr lang="en-US" sz="1300" b="1" dirty="0">
                <a:solidFill>
                  <a:srgbClr val="FFFFFF"/>
                </a:solidFill>
              </a:rPr>
              <a:t>ChatGPT  —  STRONG 💪</a:t>
            </a:r>
            <a:endParaRPr lang="en-US" sz="1300" dirty="0"/>
          </a:p>
        </p:txBody>
      </p:sp>
      <p:sp>
        <p:nvSpPr>
          <p:cNvPr id="8" name="Text 6"/>
          <p:cNvSpPr/>
          <p:nvPr/>
        </p:nvSpPr>
        <p:spPr>
          <a:xfrm>
            <a:off x="548640" y="1463040"/>
            <a:ext cx="3657600" cy="1097280"/>
          </a:xfrm>
          <a:prstGeom prst="rect">
            <a:avLst/>
          </a:prstGeom>
          <a:noFill/>
          <a:ln/>
        </p:spPr>
        <p:txBody>
          <a:bodyPr wrap="square" rtlCol="0" anchor="ctr"/>
          <a:lstStyle/>
          <a:p>
            <a:pPr marL="342900" indent="-342900">
              <a:buSzPct val="100000"/>
              <a:buChar char="•"/>
            </a:pPr>
            <a:r>
              <a:rPr lang="en-US" sz="1250" dirty="0">
                <a:solidFill>
                  <a:srgbClr val="1E293B"/>
                </a:solidFill>
              </a:rPr>
              <a:t>Nền tảng AI đa dụng mạnh nhất</a:t>
            </a:r>
            <a:endParaRPr lang="en-US" sz="1250" dirty="0"/>
          </a:p>
          <a:p>
            <a:pPr marL="342900" indent="-342900">
              <a:buSzPct val="100000"/>
              <a:buChar char="•"/>
            </a:pPr>
            <a:r>
              <a:rPr lang="en-US" sz="1250" dirty="0">
                <a:solidFill>
                  <a:srgbClr val="1E293B"/>
                </a:solidFill>
              </a:rPr>
              <a:t>Pricing power cực mạnh</a:t>
            </a:r>
            <a:endParaRPr lang="en-US" sz="1250" dirty="0"/>
          </a:p>
          <a:p>
            <a:pPr marL="342900" indent="-342900">
              <a:buSzPct val="100000"/>
              <a:buChar char="•"/>
            </a:pPr>
            <a:r>
              <a:rPr lang="en-US" sz="1250" dirty="0">
                <a:solidFill>
                  <a:srgbClr val="1E293B"/>
                </a:solidFill>
              </a:rPr>
              <a:t>Rào cản công nghệ cao</a:t>
            </a:r>
            <a:endParaRPr lang="en-US" sz="1250" dirty="0"/>
          </a:p>
        </p:txBody>
      </p:sp>
      <p:sp>
        <p:nvSpPr>
          <p:cNvPr id="9" name="Shape 7"/>
          <p:cNvSpPr/>
          <p:nvPr/>
        </p:nvSpPr>
        <p:spPr>
          <a:xfrm>
            <a:off x="4800600" y="1005840"/>
            <a:ext cx="3931920" cy="1828800"/>
          </a:xfrm>
          <a:prstGeom prst="rect">
            <a:avLst/>
          </a:prstGeom>
          <a:solidFill>
            <a:srgbClr val="FFFFFF"/>
          </a:solidFill>
          <a:ln w="12700">
            <a:solidFill>
              <a:srgbClr val="FECDD3"/>
            </a:solidFill>
            <a:prstDash val="solid"/>
          </a:ln>
        </p:spPr>
      </p:sp>
      <p:sp>
        <p:nvSpPr>
          <p:cNvPr id="10" name="Shape 8"/>
          <p:cNvSpPr/>
          <p:nvPr/>
        </p:nvSpPr>
        <p:spPr>
          <a:xfrm>
            <a:off x="4800600" y="1005840"/>
            <a:ext cx="3931920" cy="384048"/>
          </a:xfrm>
          <a:prstGeom prst="rect">
            <a:avLst/>
          </a:prstGeom>
          <a:solidFill>
            <a:srgbClr val="DC2626"/>
          </a:solidFill>
          <a:ln w="12700">
            <a:solidFill>
              <a:srgbClr val="DC2626"/>
            </a:solidFill>
            <a:prstDash val="solid"/>
          </a:ln>
        </p:spPr>
      </p:sp>
      <p:sp>
        <p:nvSpPr>
          <p:cNvPr id="11" name="Text 9"/>
          <p:cNvSpPr/>
          <p:nvPr/>
        </p:nvSpPr>
        <p:spPr>
          <a:xfrm>
            <a:off x="4892040" y="1051560"/>
            <a:ext cx="3749040" cy="292608"/>
          </a:xfrm>
          <a:prstGeom prst="rect">
            <a:avLst/>
          </a:prstGeom>
          <a:noFill/>
          <a:ln/>
        </p:spPr>
        <p:txBody>
          <a:bodyPr wrap="square" rtlCol="0" anchor="ctr"/>
          <a:lstStyle/>
          <a:p>
            <a:pPr indent="0" marL="0">
              <a:buNone/>
            </a:pPr>
            <a:r>
              <a:rPr lang="en-US" sz="1300" b="1" dirty="0">
                <a:solidFill>
                  <a:srgbClr val="FFFFFF"/>
                </a:solidFill>
              </a:rPr>
              <a:t>Jasper AI  —  AT RISK ⚠️</a:t>
            </a:r>
            <a:endParaRPr lang="en-US" sz="1300" dirty="0"/>
          </a:p>
        </p:txBody>
      </p:sp>
      <p:sp>
        <p:nvSpPr>
          <p:cNvPr id="12" name="Text 10"/>
          <p:cNvSpPr/>
          <p:nvPr/>
        </p:nvSpPr>
        <p:spPr>
          <a:xfrm>
            <a:off x="4937760" y="1463040"/>
            <a:ext cx="3657600" cy="1097280"/>
          </a:xfrm>
          <a:prstGeom prst="rect">
            <a:avLst/>
          </a:prstGeom>
          <a:noFill/>
          <a:ln/>
        </p:spPr>
        <p:txBody>
          <a:bodyPr wrap="square" rtlCol="0" anchor="ctr"/>
          <a:lstStyle/>
          <a:p>
            <a:pPr marL="342900" indent="-342900">
              <a:buSzPct val="100000"/>
              <a:buChar char="•"/>
            </a:pPr>
            <a:r>
              <a:rPr lang="en-US" sz="1250" dirty="0">
                <a:solidFill>
                  <a:srgbClr val="1E293B"/>
                </a:solidFill>
              </a:rPr>
              <a:t>Đang bị ép mạnh bởi ChatGPT</a:t>
            </a:r>
            <a:endParaRPr lang="en-US" sz="1250" dirty="0"/>
          </a:p>
          <a:p>
            <a:pPr marL="342900" indent="-342900">
              <a:buSzPct val="100000"/>
              <a:buChar char="•"/>
            </a:pPr>
            <a:r>
              <a:rPr lang="en-US" sz="1250" dirty="0">
                <a:solidFill>
                  <a:srgbClr val="1E293B"/>
                </a:solidFill>
              </a:rPr>
              <a:t>Phải niche down vào B2B để sống sót</a:t>
            </a:r>
            <a:endParaRPr lang="en-US" sz="1250" dirty="0"/>
          </a:p>
          <a:p>
            <a:pPr marL="342900" indent="-342900">
              <a:buSzPct val="100000"/>
              <a:buChar char="•"/>
            </a:pPr>
            <a:r>
              <a:rPr lang="en-US" sz="1250" dirty="0">
                <a:solidFill>
                  <a:srgbClr val="1E293B"/>
                </a:solidFill>
              </a:rPr>
              <a:t>Pricing power rất yếu</a:t>
            </a:r>
            <a:endParaRPr lang="en-US" sz="1250" dirty="0"/>
          </a:p>
        </p:txBody>
      </p:sp>
      <p:sp>
        <p:nvSpPr>
          <p:cNvPr id="13" name="Shape 11"/>
          <p:cNvSpPr/>
          <p:nvPr/>
        </p:nvSpPr>
        <p:spPr>
          <a:xfrm>
            <a:off x="411480" y="3017520"/>
            <a:ext cx="8321040" cy="1828800"/>
          </a:xfrm>
          <a:prstGeom prst="rect">
            <a:avLst/>
          </a:prstGeom>
          <a:solidFill>
            <a:srgbClr val="1E293B"/>
          </a:solidFill>
          <a:ln w="12700">
            <a:solidFill>
              <a:srgbClr val="334155"/>
            </a:solidFill>
            <a:prstDash val="solid"/>
          </a:ln>
        </p:spPr>
      </p:sp>
      <p:sp>
        <p:nvSpPr>
          <p:cNvPr id="14" name="Text 12"/>
          <p:cNvSpPr/>
          <p:nvPr/>
        </p:nvSpPr>
        <p:spPr>
          <a:xfrm>
            <a:off x="594360" y="3108960"/>
            <a:ext cx="4572000" cy="347472"/>
          </a:xfrm>
          <a:prstGeom prst="rect">
            <a:avLst/>
          </a:prstGeom>
          <a:noFill/>
          <a:ln/>
        </p:spPr>
        <p:txBody>
          <a:bodyPr wrap="square" rtlCol="0" anchor="ctr"/>
          <a:lstStyle/>
          <a:p>
            <a:pPr indent="0" marL="0">
              <a:buNone/>
            </a:pPr>
            <a:r>
              <a:rPr lang="en-US" sz="1300" b="1" dirty="0">
                <a:solidFill>
                  <a:srgbClr val="38BDF8"/>
                </a:solidFill>
              </a:rPr>
              <a:t>📊  User Base &amp; Tăng trưởng</a:t>
            </a:r>
            <a:endParaRPr lang="en-US" sz="1300" dirty="0"/>
          </a:p>
        </p:txBody>
      </p:sp>
      <p:sp>
        <p:nvSpPr>
          <p:cNvPr id="15" name="Shape 13"/>
          <p:cNvSpPr/>
          <p:nvPr/>
        </p:nvSpPr>
        <p:spPr>
          <a:xfrm>
            <a:off x="548640" y="3520440"/>
            <a:ext cx="3749040" cy="1097280"/>
          </a:xfrm>
          <a:prstGeom prst="rect">
            <a:avLst/>
          </a:prstGeom>
          <a:solidFill>
            <a:srgbClr val="172554"/>
          </a:solidFill>
          <a:ln w="12700">
            <a:solidFill>
              <a:srgbClr val="1E3A8A"/>
            </a:solidFill>
            <a:prstDash val="solid"/>
          </a:ln>
        </p:spPr>
      </p:sp>
      <p:sp>
        <p:nvSpPr>
          <p:cNvPr id="16" name="Text 14"/>
          <p:cNvSpPr/>
          <p:nvPr/>
        </p:nvSpPr>
        <p:spPr>
          <a:xfrm>
            <a:off x="640080" y="3566160"/>
            <a:ext cx="3566160" cy="274320"/>
          </a:xfrm>
          <a:prstGeom prst="rect">
            <a:avLst/>
          </a:prstGeom>
          <a:noFill/>
          <a:ln/>
        </p:spPr>
        <p:txBody>
          <a:bodyPr wrap="square" rtlCol="0" anchor="ctr"/>
          <a:lstStyle/>
          <a:p>
            <a:pPr indent="0" marL="0">
              <a:buNone/>
            </a:pPr>
            <a:r>
              <a:rPr lang="en-US" sz="1100" b="1" dirty="0">
                <a:solidFill>
                  <a:srgbClr val="38BDF8"/>
                </a:solidFill>
              </a:rPr>
              <a:t>ChatGPT</a:t>
            </a:r>
            <a:endParaRPr lang="en-US" sz="1100" dirty="0"/>
          </a:p>
        </p:txBody>
      </p:sp>
      <p:sp>
        <p:nvSpPr>
          <p:cNvPr id="17" name="Text 15"/>
          <p:cNvSpPr/>
          <p:nvPr/>
        </p:nvSpPr>
        <p:spPr>
          <a:xfrm>
            <a:off x="640080" y="3858768"/>
            <a:ext cx="3566160" cy="685800"/>
          </a:xfrm>
          <a:prstGeom prst="rect">
            <a:avLst/>
          </a:prstGeom>
          <a:noFill/>
          <a:ln/>
        </p:spPr>
        <p:txBody>
          <a:bodyPr wrap="square" rtlCol="0" anchor="ctr"/>
          <a:lstStyle/>
          <a:p>
            <a:pPr indent="0" marL="0">
              <a:buNone/>
            </a:pPr>
            <a:r>
              <a:rPr lang="en-US" sz="1200" dirty="0">
                <a:solidFill>
                  <a:srgbClr val="FFFFFF"/>
                </a:solidFill>
              </a:rPr>
              <a:t>100M MAU nhanh nhất lịch sử</a:t>
            </a:r>
            <a:endParaRPr lang="en-US" sz="1200" dirty="0"/>
          </a:p>
          <a:p>
            <a:pPr indent="0" marL="0">
              <a:buNone/>
            </a:pPr>
            <a:r>
              <a:rPr lang="en-US" sz="1200" dirty="0">
                <a:solidFill>
                  <a:srgbClr val="FFFFFF"/>
                </a:solidFill>
              </a:rPr>
              <a:t>Độ phủ toàn cầu — Tăng trưởng bền vững</a:t>
            </a:r>
            <a:endParaRPr lang="en-US" sz="1200" dirty="0"/>
          </a:p>
        </p:txBody>
      </p:sp>
      <p:sp>
        <p:nvSpPr>
          <p:cNvPr id="18" name="Shape 16"/>
          <p:cNvSpPr/>
          <p:nvPr/>
        </p:nvSpPr>
        <p:spPr>
          <a:xfrm>
            <a:off x="4617720" y="3520440"/>
            <a:ext cx="3886200" cy="1097280"/>
          </a:xfrm>
          <a:prstGeom prst="rect">
            <a:avLst/>
          </a:prstGeom>
          <a:solidFill>
            <a:srgbClr val="2D1B69"/>
          </a:solidFill>
          <a:ln w="12700">
            <a:solidFill>
              <a:srgbClr val="5B21B6"/>
            </a:solidFill>
            <a:prstDash val="solid"/>
          </a:ln>
        </p:spPr>
      </p:sp>
      <p:sp>
        <p:nvSpPr>
          <p:cNvPr id="19" name="Text 17"/>
          <p:cNvSpPr/>
          <p:nvPr/>
        </p:nvSpPr>
        <p:spPr>
          <a:xfrm>
            <a:off x="4709160" y="3566160"/>
            <a:ext cx="3657600" cy="274320"/>
          </a:xfrm>
          <a:prstGeom prst="rect">
            <a:avLst/>
          </a:prstGeom>
          <a:noFill/>
          <a:ln/>
        </p:spPr>
        <p:txBody>
          <a:bodyPr wrap="square" rtlCol="0" anchor="ctr"/>
          <a:lstStyle/>
          <a:p>
            <a:pPr indent="0" marL="0">
              <a:buNone/>
            </a:pPr>
            <a:r>
              <a:rPr lang="en-US" sz="1100" b="1" dirty="0">
                <a:solidFill>
                  <a:srgbClr val="A78BFA"/>
                </a:solidFill>
              </a:rPr>
              <a:t>Jasper AI</a:t>
            </a:r>
            <a:endParaRPr lang="en-US" sz="1100" dirty="0"/>
          </a:p>
        </p:txBody>
      </p:sp>
      <p:sp>
        <p:nvSpPr>
          <p:cNvPr id="20" name="Text 18"/>
          <p:cNvSpPr/>
          <p:nvPr/>
        </p:nvSpPr>
        <p:spPr>
          <a:xfrm>
            <a:off x="4709160" y="3858768"/>
            <a:ext cx="3657600" cy="685800"/>
          </a:xfrm>
          <a:prstGeom prst="rect">
            <a:avLst/>
          </a:prstGeom>
          <a:noFill/>
          <a:ln/>
        </p:spPr>
        <p:txBody>
          <a:bodyPr wrap="square" rtlCol="0" anchor="ctr"/>
          <a:lstStyle/>
          <a:p>
            <a:pPr indent="0" marL="0">
              <a:buNone/>
            </a:pPr>
            <a:r>
              <a:rPr lang="en-US" sz="1200" dirty="0">
                <a:solidFill>
                  <a:srgbClr val="FFFFFF"/>
                </a:solidFill>
              </a:rPr>
              <a:t>Traffic giảm 8.7M → 6.1M (05/2023)</a:t>
            </a:r>
            <a:endParaRPr lang="en-US" sz="1200" dirty="0"/>
          </a:p>
          <a:p>
            <a:pPr indent="0" marL="0">
              <a:buNone/>
            </a:pPr>
            <a:r>
              <a:rPr lang="en-US" sz="1200" dirty="0">
                <a:solidFill>
                  <a:srgbClr val="FFFFFF"/>
                </a:solidFill>
              </a:rPr>
              <a:t>Đang chuyển hướng sang doanh nghiệp B2B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09728"/>
            <a:ext cx="8229600" cy="347472"/>
          </a:xfrm>
          <a:prstGeom prst="rect">
            <a:avLst/>
          </a:prstGeom>
          <a:noFill/>
          <a:ln/>
        </p:spPr>
        <p:txBody>
          <a:bodyPr wrap="square" rtlCol="0" anchor="ctr"/>
          <a:lstStyle/>
          <a:p>
            <a:pPr indent="0" marL="0">
              <a:buNone/>
            </a:pPr>
            <a:r>
              <a:rPr lang="en-US" sz="1100" b="1" spc="200" kern="0" dirty="0">
                <a:solidFill>
                  <a:srgbClr val="38BDF8"/>
                </a:solidFill>
              </a:rPr>
              <a:t>S5.3 &amp; S5.4 — DOANH THU &amp; MOAT PHÂN TÍCH</a:t>
            </a:r>
            <a:endParaRPr lang="en-US" sz="1100" dirty="0"/>
          </a:p>
        </p:txBody>
      </p:sp>
      <p:sp>
        <p:nvSpPr>
          <p:cNvPr id="3" name="Text 1"/>
          <p:cNvSpPr/>
          <p:nvPr/>
        </p:nvSpPr>
        <p:spPr>
          <a:xfrm>
            <a:off x="457200" y="438912"/>
            <a:ext cx="8229600" cy="402336"/>
          </a:xfrm>
          <a:prstGeom prst="rect">
            <a:avLst/>
          </a:prstGeom>
          <a:noFill/>
          <a:ln/>
        </p:spPr>
        <p:txBody>
          <a:bodyPr wrap="square" rtlCol="0" anchor="ctr"/>
          <a:lstStyle/>
          <a:p>
            <a:pPr indent="0" marL="0">
              <a:buNone/>
            </a:pPr>
            <a:r>
              <a:rPr lang="en-US" sz="2400" b="1" dirty="0">
                <a:solidFill>
                  <a:srgbClr val="FFFFFF"/>
                </a:solidFill>
              </a:rPr>
              <a:t>Pricing Power &amp; Hào phòng thủ</a:t>
            </a:r>
            <a:endParaRPr lang="en-US" sz="2400" dirty="0"/>
          </a:p>
        </p:txBody>
      </p:sp>
      <p:sp>
        <p:nvSpPr>
          <p:cNvPr id="4" name="Shape 2"/>
          <p:cNvSpPr/>
          <p:nvPr/>
        </p:nvSpPr>
        <p:spPr>
          <a:xfrm>
            <a:off x="411480" y="1005840"/>
            <a:ext cx="3931920" cy="1371600"/>
          </a:xfrm>
          <a:prstGeom prst="rect">
            <a:avLst/>
          </a:prstGeom>
          <a:solidFill>
            <a:srgbClr val="172554"/>
          </a:solidFill>
          <a:ln w="12700">
            <a:solidFill>
              <a:srgbClr val="1E40AF"/>
            </a:solidFill>
            <a:prstDash val="solid"/>
          </a:ln>
        </p:spPr>
      </p:sp>
      <p:sp>
        <p:nvSpPr>
          <p:cNvPr id="5" name="Text 3"/>
          <p:cNvSpPr/>
          <p:nvPr/>
        </p:nvSpPr>
        <p:spPr>
          <a:xfrm>
            <a:off x="548640" y="1097280"/>
            <a:ext cx="3657600" cy="292608"/>
          </a:xfrm>
          <a:prstGeom prst="rect">
            <a:avLst/>
          </a:prstGeom>
          <a:noFill/>
          <a:ln/>
        </p:spPr>
        <p:txBody>
          <a:bodyPr wrap="square" rtlCol="0" anchor="ctr"/>
          <a:lstStyle/>
          <a:p>
            <a:pPr indent="0" marL="0">
              <a:buNone/>
            </a:pPr>
            <a:r>
              <a:rPr lang="en-US" sz="1300" b="1" dirty="0">
                <a:solidFill>
                  <a:srgbClr val="60A5FA"/>
                </a:solidFill>
              </a:rPr>
              <a:t>💰  ChatGPT — Pricing</a:t>
            </a:r>
            <a:endParaRPr lang="en-US" sz="1300" dirty="0"/>
          </a:p>
        </p:txBody>
      </p:sp>
      <p:sp>
        <p:nvSpPr>
          <p:cNvPr id="6" name="Text 4"/>
          <p:cNvSpPr/>
          <p:nvPr/>
        </p:nvSpPr>
        <p:spPr>
          <a:xfrm>
            <a:off x="548640" y="1463040"/>
            <a:ext cx="3657600" cy="777240"/>
          </a:xfrm>
          <a:prstGeom prst="rect">
            <a:avLst/>
          </a:prstGeom>
          <a:noFill/>
          <a:ln/>
        </p:spPr>
        <p:txBody>
          <a:bodyPr wrap="square" rtlCol="0" anchor="ctr"/>
          <a:lstStyle/>
          <a:p>
            <a:pPr indent="0" marL="0">
              <a:buNone/>
            </a:pPr>
            <a:r>
              <a:rPr lang="en-US" sz="1300" dirty="0">
                <a:solidFill>
                  <a:srgbClr val="FFFFFF"/>
                </a:solidFill>
              </a:rPr>
              <a:t>$20/tháng → Giá trị nhận lại vượt xa chi phí</a:t>
            </a:r>
            <a:endParaRPr lang="en-US" sz="1300" dirty="0"/>
          </a:p>
          <a:p>
            <a:pPr indent="0" marL="0">
              <a:buNone/>
            </a:pPr>
            <a:r>
              <a:rPr lang="en-US" sz="1300" dirty="0">
                <a:solidFill>
                  <a:srgbClr val="FFFFFF"/>
                </a:solidFill>
              </a:rPr>
              <a:t>→ Pricing power TUYỆT ĐỐI</a:t>
            </a:r>
            <a:endParaRPr lang="en-US" sz="1300" dirty="0"/>
          </a:p>
        </p:txBody>
      </p:sp>
      <p:sp>
        <p:nvSpPr>
          <p:cNvPr id="7" name="Shape 5"/>
          <p:cNvSpPr/>
          <p:nvPr/>
        </p:nvSpPr>
        <p:spPr>
          <a:xfrm>
            <a:off x="4800600" y="1005840"/>
            <a:ext cx="3931920" cy="1371600"/>
          </a:xfrm>
          <a:prstGeom prst="rect">
            <a:avLst/>
          </a:prstGeom>
          <a:solidFill>
            <a:srgbClr val="2D1B69"/>
          </a:solidFill>
          <a:ln w="12700">
            <a:solidFill>
              <a:srgbClr val="6D28D9"/>
            </a:solidFill>
            <a:prstDash val="solid"/>
          </a:ln>
        </p:spPr>
      </p:sp>
      <p:sp>
        <p:nvSpPr>
          <p:cNvPr id="8" name="Text 6"/>
          <p:cNvSpPr/>
          <p:nvPr/>
        </p:nvSpPr>
        <p:spPr>
          <a:xfrm>
            <a:off x="4937760" y="1097280"/>
            <a:ext cx="3657600" cy="292608"/>
          </a:xfrm>
          <a:prstGeom prst="rect">
            <a:avLst/>
          </a:prstGeom>
          <a:noFill/>
          <a:ln/>
        </p:spPr>
        <p:txBody>
          <a:bodyPr wrap="square" rtlCol="0" anchor="ctr"/>
          <a:lstStyle/>
          <a:p>
            <a:pPr indent="0" marL="0">
              <a:buNone/>
            </a:pPr>
            <a:r>
              <a:rPr lang="en-US" sz="1300" b="1" dirty="0">
                <a:solidFill>
                  <a:srgbClr val="A78BFA"/>
                </a:solidFill>
              </a:rPr>
              <a:t>💸  Jasper — Pricing</a:t>
            </a:r>
            <a:endParaRPr lang="en-US" sz="1300" dirty="0"/>
          </a:p>
        </p:txBody>
      </p:sp>
      <p:sp>
        <p:nvSpPr>
          <p:cNvPr id="9" name="Text 7"/>
          <p:cNvSpPr/>
          <p:nvPr/>
        </p:nvSpPr>
        <p:spPr>
          <a:xfrm>
            <a:off x="4937760" y="1463040"/>
            <a:ext cx="3657600" cy="777240"/>
          </a:xfrm>
          <a:prstGeom prst="rect">
            <a:avLst/>
          </a:prstGeom>
          <a:noFill/>
          <a:ln/>
        </p:spPr>
        <p:txBody>
          <a:bodyPr wrap="square" rtlCol="0" anchor="ctr"/>
          <a:lstStyle/>
          <a:p>
            <a:pPr indent="0" marL="0">
              <a:buNone/>
            </a:pPr>
            <a:r>
              <a:rPr lang="en-US" sz="1300" dirty="0">
                <a:solidFill>
                  <a:srgbClr val="FFFFFF"/>
                </a:solidFill>
              </a:rPr>
              <a:t>$39+/tháng cho tác vụ ChatGPT làm được miễn phí</a:t>
            </a:r>
            <a:endParaRPr lang="en-US" sz="1300" dirty="0"/>
          </a:p>
          <a:p>
            <a:pPr indent="0" marL="0">
              <a:buNone/>
            </a:pPr>
            <a:r>
              <a:rPr lang="en-US" sz="1300" dirty="0">
                <a:solidFill>
                  <a:srgbClr val="FFFFFF"/>
                </a:solidFill>
              </a:rPr>
              <a:t>→ Pricing power RẤT YẾU</a:t>
            </a:r>
            <a:endParaRPr lang="en-US" sz="1300" dirty="0"/>
          </a:p>
        </p:txBody>
      </p:sp>
      <p:sp>
        <p:nvSpPr>
          <p:cNvPr id="10" name="Text 8"/>
          <p:cNvSpPr/>
          <p:nvPr/>
        </p:nvSpPr>
        <p:spPr>
          <a:xfrm>
            <a:off x="457200" y="2560320"/>
            <a:ext cx="4572000" cy="365760"/>
          </a:xfrm>
          <a:prstGeom prst="rect">
            <a:avLst/>
          </a:prstGeom>
          <a:noFill/>
          <a:ln/>
        </p:spPr>
        <p:txBody>
          <a:bodyPr wrap="square" rtlCol="0" anchor="ctr"/>
          <a:lstStyle/>
          <a:p>
            <a:pPr indent="0" marL="0">
              <a:buNone/>
            </a:pPr>
            <a:r>
              <a:rPr lang="en-US" sz="1400" b="1" dirty="0">
                <a:solidFill>
                  <a:srgbClr val="38BDF8"/>
                </a:solidFill>
              </a:rPr>
              <a:t>🏰  MOAT (Hào phòng thủ)</a:t>
            </a:r>
            <a:endParaRPr lang="en-US" sz="1400" dirty="0"/>
          </a:p>
        </p:txBody>
      </p:sp>
      <p:sp>
        <p:nvSpPr>
          <p:cNvPr id="11" name="Shape 9"/>
          <p:cNvSpPr/>
          <p:nvPr/>
        </p:nvSpPr>
        <p:spPr>
          <a:xfrm>
            <a:off x="411480" y="2971800"/>
            <a:ext cx="3931920" cy="1783080"/>
          </a:xfrm>
          <a:prstGeom prst="rect">
            <a:avLst/>
          </a:prstGeom>
          <a:solidFill>
            <a:srgbClr val="1E293B"/>
          </a:solidFill>
          <a:ln w="12700">
            <a:solidFill>
              <a:srgbClr val="334155"/>
            </a:solidFill>
            <a:prstDash val="solid"/>
          </a:ln>
        </p:spPr>
      </p:sp>
      <p:sp>
        <p:nvSpPr>
          <p:cNvPr id="12" name="Text 10"/>
          <p:cNvSpPr/>
          <p:nvPr/>
        </p:nvSpPr>
        <p:spPr>
          <a:xfrm>
            <a:off x="548640" y="3081528"/>
            <a:ext cx="3657600" cy="292608"/>
          </a:xfrm>
          <a:prstGeom prst="rect">
            <a:avLst/>
          </a:prstGeom>
          <a:noFill/>
          <a:ln/>
        </p:spPr>
        <p:txBody>
          <a:bodyPr wrap="square" rtlCol="0" anchor="ctr"/>
          <a:lstStyle/>
          <a:p>
            <a:pPr indent="0" marL="0">
              <a:buNone/>
            </a:pPr>
            <a:r>
              <a:rPr lang="en-US" sz="1400" b="1" dirty="0">
                <a:solidFill>
                  <a:srgbClr val="FFFFFF"/>
                </a:solidFill>
              </a:rPr>
              <a:t>ChatGPT</a:t>
            </a:r>
            <a:endParaRPr lang="en-US" sz="1400" dirty="0"/>
          </a:p>
        </p:txBody>
      </p:sp>
      <p:sp>
        <p:nvSpPr>
          <p:cNvPr id="13" name="Text 11"/>
          <p:cNvSpPr/>
          <p:nvPr/>
        </p:nvSpPr>
        <p:spPr>
          <a:xfrm>
            <a:off x="594360" y="3447288"/>
            <a:ext cx="3657600" cy="1188720"/>
          </a:xfrm>
          <a:prstGeom prst="rect">
            <a:avLst/>
          </a:prstGeom>
          <a:noFill/>
          <a:ln/>
        </p:spPr>
        <p:txBody>
          <a:bodyPr wrap="square" rtlCol="0" anchor="ctr"/>
          <a:lstStyle/>
          <a:p>
            <a:pPr marL="342900" indent="-342900">
              <a:buSzPct val="100000"/>
              <a:buChar char="•"/>
            </a:pPr>
            <a:r>
              <a:rPr lang="en-US" sz="1200" b="1" dirty="0">
                <a:solidFill>
                  <a:srgbClr val="60A5FA"/>
                </a:solidFill>
              </a:rPr>
              <a:t>Data Moat cực mạnh</a:t>
            </a:r>
            <a:endParaRPr lang="en-US" sz="1200" dirty="0"/>
          </a:p>
          <a:p>
            <a:pPr indent="0" marL="0">
              <a:buNone/>
            </a:pPr>
            <a:r>
              <a:rPr lang="en-US" sz="1200" dirty="0">
                <a:solidFill>
                  <a:srgbClr val="94A3B8"/>
                </a:solidFill>
              </a:rPr>
              <a:t>— Hàng trăm triệu user train model</a:t>
            </a:r>
            <a:endParaRPr lang="en-US" sz="1200" dirty="0"/>
          </a:p>
          <a:p>
            <a:pPr marL="342900" indent="-342900">
              <a:buSzPct val="100000"/>
              <a:buChar char="•"/>
            </a:pPr>
            <a:r>
              <a:rPr lang="en-US" sz="1200" dirty="0">
                <a:solidFill>
                  <a:srgbClr val="FFFFFF"/>
                </a:solidFill>
              </a:rPr>
              <a:t>Brand Moat — trở thành "động từ"</a:t>
            </a:r>
            <a:endParaRPr lang="en-US" sz="1200" dirty="0"/>
          </a:p>
        </p:txBody>
      </p:sp>
      <p:sp>
        <p:nvSpPr>
          <p:cNvPr id="14" name="Shape 12"/>
          <p:cNvSpPr/>
          <p:nvPr/>
        </p:nvSpPr>
        <p:spPr>
          <a:xfrm>
            <a:off x="4800600" y="2971800"/>
            <a:ext cx="3931920" cy="1783080"/>
          </a:xfrm>
          <a:prstGeom prst="rect">
            <a:avLst/>
          </a:prstGeom>
          <a:solidFill>
            <a:srgbClr val="1E293B"/>
          </a:solidFill>
          <a:ln w="12700">
            <a:solidFill>
              <a:srgbClr val="334155"/>
            </a:solidFill>
            <a:prstDash val="solid"/>
          </a:ln>
        </p:spPr>
      </p:sp>
      <p:sp>
        <p:nvSpPr>
          <p:cNvPr id="15" name="Text 13"/>
          <p:cNvSpPr/>
          <p:nvPr/>
        </p:nvSpPr>
        <p:spPr>
          <a:xfrm>
            <a:off x="4937760" y="3081528"/>
            <a:ext cx="3657600" cy="292608"/>
          </a:xfrm>
          <a:prstGeom prst="rect">
            <a:avLst/>
          </a:prstGeom>
          <a:noFill/>
          <a:ln/>
        </p:spPr>
        <p:txBody>
          <a:bodyPr wrap="square" rtlCol="0" anchor="ctr"/>
          <a:lstStyle/>
          <a:p>
            <a:pPr indent="0" marL="0">
              <a:buNone/>
            </a:pPr>
            <a:r>
              <a:rPr lang="en-US" sz="1400" b="1" dirty="0">
                <a:solidFill>
                  <a:srgbClr val="FFFFFF"/>
                </a:solidFill>
              </a:rPr>
              <a:t>Jasper AI</a:t>
            </a:r>
            <a:endParaRPr lang="en-US" sz="1400" dirty="0"/>
          </a:p>
        </p:txBody>
      </p:sp>
      <p:sp>
        <p:nvSpPr>
          <p:cNvPr id="16" name="Text 14"/>
          <p:cNvSpPr/>
          <p:nvPr/>
        </p:nvSpPr>
        <p:spPr>
          <a:xfrm>
            <a:off x="4937760" y="3447288"/>
            <a:ext cx="3657600" cy="1188720"/>
          </a:xfrm>
          <a:prstGeom prst="rect">
            <a:avLst/>
          </a:prstGeom>
          <a:noFill/>
          <a:ln/>
        </p:spPr>
        <p:txBody>
          <a:bodyPr wrap="square" rtlCol="0" anchor="ctr"/>
          <a:lstStyle/>
          <a:p>
            <a:pPr marL="342900" indent="-342900">
              <a:buSzPct val="100000"/>
              <a:buChar char="•"/>
            </a:pPr>
            <a:r>
              <a:rPr lang="en-US" sz="1200" b="1" dirty="0">
                <a:solidFill>
                  <a:srgbClr val="F87171"/>
                </a:solidFill>
              </a:rPr>
              <a:t>Tech Moat = 0</a:t>
            </a:r>
            <a:endParaRPr lang="en-US" sz="1200" dirty="0"/>
          </a:p>
          <a:p>
            <a:pPr indent="0" marL="0">
              <a:buNone/>
            </a:pPr>
            <a:r>
              <a:rPr lang="en-US" sz="1200" dirty="0">
                <a:solidFill>
                  <a:srgbClr val="94A3B8"/>
                </a:solidFill>
              </a:rPr>
              <a:t>— Chỉ là Wrapper trên model người khác</a:t>
            </a:r>
            <a:endParaRPr lang="en-US" sz="1200" dirty="0"/>
          </a:p>
          <a:p>
            <a:pPr marL="342900" indent="-342900">
              <a:buSzPct val="100000"/>
              <a:buChar char="•"/>
            </a:pPr>
            <a:r>
              <a:rPr lang="en-US" sz="1200" dirty="0">
                <a:solidFill>
                  <a:srgbClr val="FFFFFF"/>
                </a:solidFill>
              </a:rPr>
              <a:t>Còn lại: Distribution (B2B Sales) + Workflow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457200" y="73152"/>
            <a:ext cx="8229600" cy="365760"/>
          </a:xfrm>
          <a:prstGeom prst="rect">
            <a:avLst/>
          </a:prstGeom>
          <a:noFill/>
          <a:ln/>
        </p:spPr>
        <p:txBody>
          <a:bodyPr wrap="square" rtlCol="0" anchor="ctr"/>
          <a:lstStyle/>
          <a:p>
            <a:pPr indent="0" marL="0">
              <a:buNone/>
            </a:pPr>
            <a:r>
              <a:rPr lang="en-US" sz="1100" b="1" spc="200" kern="0" dirty="0">
                <a:solidFill>
                  <a:srgbClr val="38BDF8"/>
                </a:solidFill>
              </a:rPr>
              <a:t>S5.5 &amp; S5.6 — DATA FLYWHEEL &amp; NICHE DOWN</a:t>
            </a:r>
            <a:endParaRPr lang="en-US" sz="1100" dirty="0"/>
          </a:p>
        </p:txBody>
      </p:sp>
      <p:sp>
        <p:nvSpPr>
          <p:cNvPr id="4" name="Text 2"/>
          <p:cNvSpPr/>
          <p:nvPr/>
        </p:nvSpPr>
        <p:spPr>
          <a:xfrm>
            <a:off x="457200" y="438912"/>
            <a:ext cx="8229600" cy="365760"/>
          </a:xfrm>
          <a:prstGeom prst="rect">
            <a:avLst/>
          </a:prstGeom>
          <a:noFill/>
          <a:ln/>
        </p:spPr>
        <p:txBody>
          <a:bodyPr wrap="square" rtlCol="0" anchor="ctr"/>
          <a:lstStyle/>
          <a:p>
            <a:pPr indent="0" marL="0">
              <a:buNone/>
            </a:pPr>
            <a:r>
              <a:rPr lang="en-US" sz="2000" b="1" dirty="0">
                <a:solidFill>
                  <a:srgbClr val="FFFFFF"/>
                </a:solidFill>
              </a:rPr>
              <a:t>Vòng lặp tăng trưởng &amp; Định vị thị trường</a:t>
            </a:r>
            <a:endParaRPr lang="en-US" sz="2000" dirty="0"/>
          </a:p>
        </p:txBody>
      </p:sp>
      <p:sp>
        <p:nvSpPr>
          <p:cNvPr id="5" name="Shape 3"/>
          <p:cNvSpPr/>
          <p:nvPr/>
        </p:nvSpPr>
        <p:spPr>
          <a:xfrm>
            <a:off x="457200" y="1005840"/>
            <a:ext cx="1828800" cy="1828800"/>
          </a:xfrm>
          <a:prstGeom prst="ellipse">
            <a:avLst/>
          </a:prstGeom>
          <a:solidFill>
            <a:srgbClr val="EFF6FF"/>
          </a:solidFill>
          <a:ln w="25400">
            <a:solidFill>
              <a:srgbClr val="1D4ED8"/>
            </a:solidFill>
            <a:prstDash val="solid"/>
          </a:ln>
        </p:spPr>
      </p:sp>
      <p:sp>
        <p:nvSpPr>
          <p:cNvPr id="6" name="Text 4"/>
          <p:cNvSpPr/>
          <p:nvPr/>
        </p:nvSpPr>
        <p:spPr>
          <a:xfrm>
            <a:off x="457200" y="1325880"/>
            <a:ext cx="1828800" cy="1188720"/>
          </a:xfrm>
          <a:prstGeom prst="rect">
            <a:avLst/>
          </a:prstGeom>
          <a:noFill/>
          <a:ln/>
        </p:spPr>
        <p:txBody>
          <a:bodyPr wrap="square" rtlCol="0" anchor="ctr"/>
          <a:lstStyle/>
          <a:p>
            <a:pPr algn="ctr" indent="0" marL="0">
              <a:buNone/>
            </a:pPr>
            <a:r>
              <a:rPr lang="en-US" sz="1100" b="1" dirty="0">
                <a:solidFill>
                  <a:srgbClr val="1D4ED8"/>
                </a:solidFill>
              </a:rPr>
              <a:t>🔄</a:t>
            </a:r>
            <a:endParaRPr lang="en-US" sz="1100" dirty="0"/>
          </a:p>
          <a:p>
            <a:pPr algn="ctr" indent="0" marL="0">
              <a:buNone/>
            </a:pPr>
            <a:r>
              <a:rPr lang="en-US" sz="1100" b="1" dirty="0">
                <a:solidFill>
                  <a:srgbClr val="1D4ED8"/>
                </a:solidFill>
              </a:rPr>
              <a:t>Data</a:t>
            </a:r>
            <a:endParaRPr lang="en-US" sz="1100" dirty="0"/>
          </a:p>
          <a:p>
            <a:pPr algn="ctr" indent="0" marL="0">
              <a:buNone/>
            </a:pPr>
            <a:r>
              <a:rPr lang="en-US" sz="1100" b="1" dirty="0">
                <a:solidFill>
                  <a:srgbClr val="1D4ED8"/>
                </a:solidFill>
              </a:rPr>
              <a:t>Flywheel</a:t>
            </a:r>
            <a:endParaRPr lang="en-US" sz="1100" dirty="0"/>
          </a:p>
        </p:txBody>
      </p:sp>
      <p:sp>
        <p:nvSpPr>
          <p:cNvPr id="7" name="Shape 5"/>
          <p:cNvSpPr/>
          <p:nvPr/>
        </p:nvSpPr>
        <p:spPr>
          <a:xfrm>
            <a:off x="2468880" y="1005840"/>
            <a:ext cx="1828800" cy="1828800"/>
          </a:xfrm>
          <a:prstGeom prst="rect">
            <a:avLst/>
          </a:prstGeom>
          <a:solidFill>
            <a:srgbClr val="F0FDF4"/>
          </a:solidFill>
          <a:ln w="12700">
            <a:solidFill>
              <a:srgbClr val="16A34A"/>
            </a:solidFill>
            <a:prstDash val="solid"/>
          </a:ln>
        </p:spPr>
      </p:sp>
      <p:sp>
        <p:nvSpPr>
          <p:cNvPr id="8" name="Text 6"/>
          <p:cNvSpPr/>
          <p:nvPr/>
        </p:nvSpPr>
        <p:spPr>
          <a:xfrm>
            <a:off x="2514600" y="1078992"/>
            <a:ext cx="1737360" cy="292608"/>
          </a:xfrm>
          <a:prstGeom prst="rect">
            <a:avLst/>
          </a:prstGeom>
          <a:noFill/>
          <a:ln/>
        </p:spPr>
        <p:txBody>
          <a:bodyPr wrap="square" rtlCol="0" anchor="ctr"/>
          <a:lstStyle/>
          <a:p>
            <a:pPr algn="ctr" indent="0" marL="0">
              <a:buNone/>
            </a:pPr>
            <a:r>
              <a:rPr lang="en-US" sz="1300" b="1" dirty="0">
                <a:solidFill>
                  <a:srgbClr val="16A34A"/>
                </a:solidFill>
              </a:rPr>
              <a:t>ChatGPT</a:t>
            </a:r>
            <a:endParaRPr lang="en-US" sz="1300" dirty="0"/>
          </a:p>
        </p:txBody>
      </p:sp>
      <p:sp>
        <p:nvSpPr>
          <p:cNvPr id="9" name="Text 7"/>
          <p:cNvSpPr/>
          <p:nvPr/>
        </p:nvSpPr>
        <p:spPr>
          <a:xfrm>
            <a:off x="2514600" y="1417320"/>
            <a:ext cx="1737360" cy="1188720"/>
          </a:xfrm>
          <a:prstGeom prst="rect">
            <a:avLst/>
          </a:prstGeom>
          <a:noFill/>
          <a:ln/>
        </p:spPr>
        <p:txBody>
          <a:bodyPr wrap="square" rtlCol="0" anchor="ctr"/>
          <a:lstStyle/>
          <a:p>
            <a:pPr algn="ctr" indent="0" marL="0">
              <a:buNone/>
            </a:pPr>
            <a:r>
              <a:rPr lang="en-US" sz="1100" dirty="0">
                <a:solidFill>
                  <a:srgbClr val="166534"/>
                </a:solidFill>
              </a:rPr>
              <a:t>Nhiều user → RLHF tốt → Model khôn hơn → Thu hút thêm user (Compounding mạnh)</a:t>
            </a:r>
            <a:endParaRPr lang="en-US" sz="1100" dirty="0"/>
          </a:p>
        </p:txBody>
      </p:sp>
      <p:sp>
        <p:nvSpPr>
          <p:cNvPr id="10" name="Shape 8"/>
          <p:cNvSpPr/>
          <p:nvPr/>
        </p:nvSpPr>
        <p:spPr>
          <a:xfrm>
            <a:off x="4572000" y="1005840"/>
            <a:ext cx="1828800" cy="1828800"/>
          </a:xfrm>
          <a:prstGeom prst="rect">
            <a:avLst/>
          </a:prstGeom>
          <a:solidFill>
            <a:srgbClr val="FFF7ED"/>
          </a:solidFill>
          <a:ln w="12700">
            <a:solidFill>
              <a:srgbClr val="EA580C"/>
            </a:solidFill>
            <a:prstDash val="solid"/>
          </a:ln>
        </p:spPr>
      </p:sp>
      <p:sp>
        <p:nvSpPr>
          <p:cNvPr id="11" name="Text 9"/>
          <p:cNvSpPr/>
          <p:nvPr/>
        </p:nvSpPr>
        <p:spPr>
          <a:xfrm>
            <a:off x="4617720" y="1078992"/>
            <a:ext cx="1737360" cy="292608"/>
          </a:xfrm>
          <a:prstGeom prst="rect">
            <a:avLst/>
          </a:prstGeom>
          <a:noFill/>
          <a:ln/>
        </p:spPr>
        <p:txBody>
          <a:bodyPr wrap="square" rtlCol="0" anchor="ctr"/>
          <a:lstStyle/>
          <a:p>
            <a:pPr algn="ctr" indent="0" marL="0">
              <a:buNone/>
            </a:pPr>
            <a:r>
              <a:rPr lang="en-US" sz="1300" b="1" dirty="0">
                <a:solidFill>
                  <a:srgbClr val="EA580C"/>
                </a:solidFill>
              </a:rPr>
              <a:t>Jasper AI</a:t>
            </a:r>
            <a:endParaRPr lang="en-US" sz="1300" dirty="0"/>
          </a:p>
        </p:txBody>
      </p:sp>
      <p:sp>
        <p:nvSpPr>
          <p:cNvPr id="12" name="Text 10"/>
          <p:cNvSpPr/>
          <p:nvPr/>
        </p:nvSpPr>
        <p:spPr>
          <a:xfrm>
            <a:off x="4617720" y="1417320"/>
            <a:ext cx="1737360" cy="1188720"/>
          </a:xfrm>
          <a:prstGeom prst="rect">
            <a:avLst/>
          </a:prstGeom>
          <a:noFill/>
          <a:ln/>
        </p:spPr>
        <p:txBody>
          <a:bodyPr wrap="square" rtlCol="0" anchor="ctr"/>
          <a:lstStyle/>
          <a:p>
            <a:pPr algn="ctr" indent="0" marL="0">
              <a:buNone/>
            </a:pPr>
            <a:r>
              <a:rPr lang="en-US" sz="1100" dirty="0">
                <a:solidFill>
                  <a:srgbClr val="9A3412"/>
                </a:solidFill>
              </a:rPr>
              <a:t>Không sở hữu model lõi → Không có compounding → Không có Data Flywheel</a:t>
            </a:r>
            <a:endParaRPr lang="en-US" sz="1100" dirty="0"/>
          </a:p>
        </p:txBody>
      </p:sp>
      <p:sp>
        <p:nvSpPr>
          <p:cNvPr id="13" name="Shape 11"/>
          <p:cNvSpPr/>
          <p:nvPr/>
        </p:nvSpPr>
        <p:spPr>
          <a:xfrm>
            <a:off x="2331720" y="1874520"/>
            <a:ext cx="164592" cy="91440"/>
          </a:xfrm>
          <a:prstGeom prst="rect">
            <a:avLst/>
          </a:prstGeom>
          <a:solidFill>
            <a:srgbClr val="1D4ED8"/>
          </a:solidFill>
          <a:ln w="12700">
            <a:solidFill>
              <a:srgbClr val="1D4ED8"/>
            </a:solidFill>
            <a:prstDash val="solid"/>
          </a:ln>
        </p:spPr>
      </p:sp>
      <p:sp>
        <p:nvSpPr>
          <p:cNvPr id="14" name="Shape 12"/>
          <p:cNvSpPr/>
          <p:nvPr/>
        </p:nvSpPr>
        <p:spPr>
          <a:xfrm>
            <a:off x="4251960" y="1874520"/>
            <a:ext cx="347472" cy="91440"/>
          </a:xfrm>
          <a:prstGeom prst="rect">
            <a:avLst/>
          </a:prstGeom>
          <a:solidFill>
            <a:srgbClr val="CBD5E1"/>
          </a:solidFill>
          <a:ln w="12700">
            <a:solidFill>
              <a:srgbClr val="CBD5E1"/>
            </a:solidFill>
            <a:prstDash val="solid"/>
          </a:ln>
        </p:spPr>
      </p:sp>
      <p:sp>
        <p:nvSpPr>
          <p:cNvPr id="15" name="Shape 13"/>
          <p:cNvSpPr/>
          <p:nvPr/>
        </p:nvSpPr>
        <p:spPr>
          <a:xfrm>
            <a:off x="411480" y="3017520"/>
            <a:ext cx="8321040" cy="1828800"/>
          </a:xfrm>
          <a:prstGeom prst="rect">
            <a:avLst/>
          </a:prstGeom>
          <a:solidFill>
            <a:srgbClr val="1E293B"/>
          </a:solidFill>
          <a:ln w="12700">
            <a:solidFill>
              <a:srgbClr val="334155"/>
            </a:solidFill>
            <a:prstDash val="solid"/>
          </a:ln>
        </p:spPr>
      </p:sp>
      <p:sp>
        <p:nvSpPr>
          <p:cNvPr id="16" name="Text 14"/>
          <p:cNvSpPr/>
          <p:nvPr/>
        </p:nvSpPr>
        <p:spPr>
          <a:xfrm>
            <a:off x="594360" y="3108960"/>
            <a:ext cx="4572000" cy="347472"/>
          </a:xfrm>
          <a:prstGeom prst="rect">
            <a:avLst/>
          </a:prstGeom>
          <a:noFill/>
          <a:ln/>
        </p:spPr>
        <p:txBody>
          <a:bodyPr wrap="square" rtlCol="0" anchor="ctr"/>
          <a:lstStyle/>
          <a:p>
            <a:pPr indent="0" marL="0">
              <a:buNone/>
            </a:pPr>
            <a:r>
              <a:rPr lang="en-US" sz="1300" b="1" dirty="0">
                <a:solidFill>
                  <a:srgbClr val="38BDF8"/>
                </a:solidFill>
              </a:rPr>
              <a:t>🗺️  AI Feature Map — Niche Down Strategy</a:t>
            </a:r>
            <a:endParaRPr lang="en-US" sz="1300" dirty="0"/>
          </a:p>
        </p:txBody>
      </p:sp>
      <p:sp>
        <p:nvSpPr>
          <p:cNvPr id="17" name="Text 15"/>
          <p:cNvSpPr/>
          <p:nvPr/>
        </p:nvSpPr>
        <p:spPr>
          <a:xfrm>
            <a:off x="640080" y="3547872"/>
            <a:ext cx="3840480" cy="320040"/>
          </a:xfrm>
          <a:prstGeom prst="rect">
            <a:avLst/>
          </a:prstGeom>
          <a:noFill/>
          <a:ln/>
        </p:spPr>
        <p:txBody>
          <a:bodyPr wrap="square" rtlCol="0" anchor="ctr"/>
          <a:lstStyle/>
          <a:p>
            <a:pPr indent="0" marL="0">
              <a:buNone/>
            </a:pPr>
            <a:r>
              <a:rPr lang="en-US" sz="1250" b="1" dirty="0">
                <a:solidFill>
                  <a:srgbClr val="60A5FA"/>
                </a:solidFill>
              </a:rPr>
              <a:t>ChatGPT → Horizontal (bao phủ toàn bộ chiều ngang)</a:t>
            </a:r>
            <a:endParaRPr lang="en-US" sz="1250" dirty="0"/>
          </a:p>
        </p:txBody>
      </p:sp>
      <p:sp>
        <p:nvSpPr>
          <p:cNvPr id="18" name="Text 16"/>
          <p:cNvSpPr/>
          <p:nvPr/>
        </p:nvSpPr>
        <p:spPr>
          <a:xfrm>
            <a:off x="640080" y="3858768"/>
            <a:ext cx="3840480" cy="320040"/>
          </a:xfrm>
          <a:prstGeom prst="rect">
            <a:avLst/>
          </a:prstGeom>
          <a:noFill/>
          <a:ln/>
        </p:spPr>
        <p:txBody>
          <a:bodyPr wrap="square" rtlCol="0" anchor="ctr"/>
          <a:lstStyle/>
          <a:p>
            <a:pPr indent="0" marL="0">
              <a:buNone/>
            </a:pPr>
            <a:r>
              <a:rPr lang="en-US" sz="1150" dirty="0">
                <a:solidFill>
                  <a:srgbClr val="94A3B8"/>
                </a:solidFill>
              </a:rPr>
              <a:t>Coding • Writing • Research • Math • Vision • Agents…</a:t>
            </a:r>
            <a:endParaRPr lang="en-US" sz="1150" dirty="0"/>
          </a:p>
        </p:txBody>
      </p:sp>
      <p:sp>
        <p:nvSpPr>
          <p:cNvPr id="19" name="Shape 17"/>
          <p:cNvSpPr/>
          <p:nvPr/>
        </p:nvSpPr>
        <p:spPr>
          <a:xfrm>
            <a:off x="4663440" y="3429000"/>
            <a:ext cx="45720" cy="1097280"/>
          </a:xfrm>
          <a:prstGeom prst="rect">
            <a:avLst/>
          </a:prstGeom>
          <a:solidFill>
            <a:srgbClr val="334155"/>
          </a:solidFill>
          <a:ln w="12700">
            <a:solidFill>
              <a:srgbClr val="334155"/>
            </a:solidFill>
            <a:prstDash val="solid"/>
          </a:ln>
        </p:spPr>
      </p:sp>
      <p:sp>
        <p:nvSpPr>
          <p:cNvPr id="20" name="Text 18"/>
          <p:cNvSpPr/>
          <p:nvPr/>
        </p:nvSpPr>
        <p:spPr>
          <a:xfrm>
            <a:off x="4892040" y="3547872"/>
            <a:ext cx="3749040" cy="320040"/>
          </a:xfrm>
          <a:prstGeom prst="rect">
            <a:avLst/>
          </a:prstGeom>
          <a:noFill/>
          <a:ln/>
        </p:spPr>
        <p:txBody>
          <a:bodyPr wrap="square" rtlCol="0" anchor="ctr"/>
          <a:lstStyle/>
          <a:p>
            <a:pPr indent="0" marL="0">
              <a:buNone/>
            </a:pPr>
            <a:r>
              <a:rPr lang="en-US" sz="1250" b="1" dirty="0">
                <a:solidFill>
                  <a:srgbClr val="F87171"/>
                </a:solidFill>
              </a:rPr>
              <a:t>Jasper → Vertical (thu mình — Niche down)</a:t>
            </a:r>
            <a:endParaRPr lang="en-US" sz="1250" dirty="0"/>
          </a:p>
        </p:txBody>
      </p:sp>
      <p:sp>
        <p:nvSpPr>
          <p:cNvPr id="21" name="Text 19"/>
          <p:cNvSpPr/>
          <p:nvPr/>
        </p:nvSpPr>
        <p:spPr>
          <a:xfrm>
            <a:off x="4892040" y="3858768"/>
            <a:ext cx="3749040" cy="320040"/>
          </a:xfrm>
          <a:prstGeom prst="rect">
            <a:avLst/>
          </a:prstGeom>
          <a:noFill/>
          <a:ln/>
        </p:spPr>
        <p:txBody>
          <a:bodyPr wrap="square" rtlCol="0" anchor="ctr"/>
          <a:lstStyle/>
          <a:p>
            <a:pPr indent="0" marL="0">
              <a:buNone/>
            </a:pPr>
            <a:r>
              <a:rPr lang="en-US" sz="1150" dirty="0">
                <a:solidFill>
                  <a:srgbClr val="94A3B8"/>
                </a:solidFill>
              </a:rPr>
              <a:t>Chỉ còn: Content Marketing cho doanh nghiệp B2B</a:t>
            </a:r>
            <a:endParaRPr lang="en-US" sz="1150" dirty="0"/>
          </a:p>
        </p:txBody>
      </p:sp>
      <p:sp>
        <p:nvSpPr>
          <p:cNvPr id="22" name="Text 20"/>
          <p:cNvSpPr/>
          <p:nvPr/>
        </p:nvSpPr>
        <p:spPr>
          <a:xfrm>
            <a:off x="4892040" y="4178808"/>
            <a:ext cx="3749040" cy="320040"/>
          </a:xfrm>
          <a:prstGeom prst="rect">
            <a:avLst/>
          </a:prstGeom>
          <a:noFill/>
          <a:ln/>
        </p:spPr>
        <p:txBody>
          <a:bodyPr wrap="square" rtlCol="0" anchor="ctr"/>
          <a:lstStyle/>
          <a:p>
            <a:pPr indent="0" marL="0">
              <a:buNone/>
            </a:pPr>
            <a:r>
              <a:rPr lang="en-US" sz="1100" i="1" dirty="0">
                <a:solidFill>
                  <a:srgbClr val="F87171"/>
                </a:solidFill>
              </a:rPr>
              <a:t>Survival mode — tránh đối đầu trực tiếp với ChatGPT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09728"/>
            <a:ext cx="8229600" cy="347472"/>
          </a:xfrm>
          <a:prstGeom prst="rect">
            <a:avLst/>
          </a:prstGeom>
          <a:noFill/>
          <a:ln/>
        </p:spPr>
        <p:txBody>
          <a:bodyPr wrap="square" rtlCol="0" anchor="ctr"/>
          <a:lstStyle/>
          <a:p>
            <a:pPr indent="0" marL="0">
              <a:buNone/>
            </a:pPr>
            <a:r>
              <a:rPr lang="en-US" sz="1100" b="1" spc="200" kern="0" dirty="0">
                <a:solidFill>
                  <a:srgbClr val="38BDF8"/>
                </a:solidFill>
              </a:rPr>
              <a:t>S5.7 &amp; S5.8 — HÀNH TRÌNH AI &amp; BÀI HỌC</a:t>
            </a:r>
            <a:endParaRPr lang="en-US" sz="1100" dirty="0"/>
          </a:p>
        </p:txBody>
      </p:sp>
      <p:sp>
        <p:nvSpPr>
          <p:cNvPr id="3" name="Text 1"/>
          <p:cNvSpPr/>
          <p:nvPr/>
        </p:nvSpPr>
        <p:spPr>
          <a:xfrm>
            <a:off x="457200" y="438912"/>
            <a:ext cx="8229600" cy="402336"/>
          </a:xfrm>
          <a:prstGeom prst="rect">
            <a:avLst/>
          </a:prstGeom>
          <a:noFill/>
          <a:ln/>
        </p:spPr>
        <p:txBody>
          <a:bodyPr wrap="square" rtlCol="0" anchor="ctr"/>
          <a:lstStyle/>
          <a:p>
            <a:pPr indent="0" marL="0">
              <a:buNone/>
            </a:pPr>
            <a:r>
              <a:rPr lang="en-US" sz="2400" b="1" dirty="0">
                <a:solidFill>
                  <a:srgbClr val="FFFFFF"/>
                </a:solidFill>
              </a:rPr>
              <a:t>Spark → Loop → System &amp; Liên hệ Lab 1</a:t>
            </a:r>
            <a:endParaRPr lang="en-US" sz="2400" dirty="0"/>
          </a:p>
        </p:txBody>
      </p:sp>
      <p:sp>
        <p:nvSpPr>
          <p:cNvPr id="4" name="Shape 2"/>
          <p:cNvSpPr/>
          <p:nvPr/>
        </p:nvSpPr>
        <p:spPr>
          <a:xfrm>
            <a:off x="457200" y="1005840"/>
            <a:ext cx="2743200" cy="384048"/>
          </a:xfrm>
          <a:prstGeom prst="rect">
            <a:avLst/>
          </a:prstGeom>
          <a:solidFill>
            <a:srgbClr val="1D4ED8"/>
          </a:solidFill>
          <a:ln w="12700">
            <a:solidFill>
              <a:srgbClr val="38BDF8"/>
            </a:solidFill>
            <a:prstDash val="solid"/>
          </a:ln>
        </p:spPr>
      </p:sp>
      <p:sp>
        <p:nvSpPr>
          <p:cNvPr id="5" name="Text 3"/>
          <p:cNvSpPr/>
          <p:nvPr/>
        </p:nvSpPr>
        <p:spPr>
          <a:xfrm>
            <a:off x="548640" y="1051560"/>
            <a:ext cx="2560320" cy="292608"/>
          </a:xfrm>
          <a:prstGeom prst="rect">
            <a:avLst/>
          </a:prstGeom>
          <a:noFill/>
          <a:ln/>
        </p:spPr>
        <p:txBody>
          <a:bodyPr wrap="square" rtlCol="0" anchor="ctr"/>
          <a:lstStyle/>
          <a:p>
            <a:pPr algn="ctr" indent="0" marL="0">
              <a:buNone/>
            </a:pPr>
            <a:r>
              <a:rPr lang="en-US" sz="1300" b="1" dirty="0">
                <a:solidFill>
                  <a:srgbClr val="FFFFFF"/>
                </a:solidFill>
              </a:rPr>
              <a:t>✨ SPARK</a:t>
            </a:r>
            <a:endParaRPr lang="en-US" sz="1300" dirty="0"/>
          </a:p>
        </p:txBody>
      </p:sp>
      <p:sp>
        <p:nvSpPr>
          <p:cNvPr id="6" name="Shape 4"/>
          <p:cNvSpPr/>
          <p:nvPr/>
        </p:nvSpPr>
        <p:spPr>
          <a:xfrm>
            <a:off x="3337560" y="1005840"/>
            <a:ext cx="2743200" cy="384048"/>
          </a:xfrm>
          <a:prstGeom prst="rect">
            <a:avLst/>
          </a:prstGeom>
          <a:solidFill>
            <a:srgbClr val="1D4ED8"/>
          </a:solidFill>
          <a:ln w="12700">
            <a:solidFill>
              <a:srgbClr val="38BDF8"/>
            </a:solidFill>
            <a:prstDash val="solid"/>
          </a:ln>
        </p:spPr>
      </p:sp>
      <p:sp>
        <p:nvSpPr>
          <p:cNvPr id="7" name="Text 5"/>
          <p:cNvSpPr/>
          <p:nvPr/>
        </p:nvSpPr>
        <p:spPr>
          <a:xfrm>
            <a:off x="3429000" y="1051560"/>
            <a:ext cx="2560320" cy="292608"/>
          </a:xfrm>
          <a:prstGeom prst="rect">
            <a:avLst/>
          </a:prstGeom>
          <a:noFill/>
          <a:ln/>
        </p:spPr>
        <p:txBody>
          <a:bodyPr wrap="square" rtlCol="0" anchor="ctr"/>
          <a:lstStyle/>
          <a:p>
            <a:pPr algn="ctr" indent="0" marL="0">
              <a:buNone/>
            </a:pPr>
            <a:r>
              <a:rPr lang="en-US" sz="1300" b="1" dirty="0">
                <a:solidFill>
                  <a:srgbClr val="FFFFFF"/>
                </a:solidFill>
              </a:rPr>
              <a:t>🔁 LOOP</a:t>
            </a:r>
            <a:endParaRPr lang="en-US" sz="1300" dirty="0"/>
          </a:p>
        </p:txBody>
      </p:sp>
      <p:sp>
        <p:nvSpPr>
          <p:cNvPr id="8" name="Shape 6"/>
          <p:cNvSpPr/>
          <p:nvPr/>
        </p:nvSpPr>
        <p:spPr>
          <a:xfrm>
            <a:off x="6217920" y="1005840"/>
            <a:ext cx="2743200" cy="384048"/>
          </a:xfrm>
          <a:prstGeom prst="rect">
            <a:avLst/>
          </a:prstGeom>
          <a:solidFill>
            <a:srgbClr val="38BDF8"/>
          </a:solidFill>
          <a:ln w="12700">
            <a:solidFill>
              <a:srgbClr val="38BDF8"/>
            </a:solidFill>
            <a:prstDash val="solid"/>
          </a:ln>
        </p:spPr>
      </p:sp>
      <p:sp>
        <p:nvSpPr>
          <p:cNvPr id="9" name="Text 7"/>
          <p:cNvSpPr/>
          <p:nvPr/>
        </p:nvSpPr>
        <p:spPr>
          <a:xfrm>
            <a:off x="6309360" y="1051560"/>
            <a:ext cx="2560320" cy="292608"/>
          </a:xfrm>
          <a:prstGeom prst="rect">
            <a:avLst/>
          </a:prstGeom>
          <a:noFill/>
          <a:ln/>
        </p:spPr>
        <p:txBody>
          <a:bodyPr wrap="square" rtlCol="0" anchor="ctr"/>
          <a:lstStyle/>
          <a:p>
            <a:pPr algn="ctr" indent="0" marL="0">
              <a:buNone/>
            </a:pPr>
            <a:r>
              <a:rPr lang="en-US" sz="1300" b="1" dirty="0">
                <a:solidFill>
                  <a:srgbClr val="FFFFFF"/>
                </a:solidFill>
              </a:rPr>
              <a:t>⚙️ SYSTEM</a:t>
            </a:r>
            <a:endParaRPr lang="en-US" sz="1300" dirty="0"/>
          </a:p>
        </p:txBody>
      </p:sp>
      <p:sp>
        <p:nvSpPr>
          <p:cNvPr id="10" name="Text 8"/>
          <p:cNvSpPr/>
          <p:nvPr/>
        </p:nvSpPr>
        <p:spPr>
          <a:xfrm>
            <a:off x="3182112" y="1078992"/>
            <a:ext cx="201168" cy="256032"/>
          </a:xfrm>
          <a:prstGeom prst="rect">
            <a:avLst/>
          </a:prstGeom>
          <a:noFill/>
          <a:ln/>
        </p:spPr>
        <p:txBody>
          <a:bodyPr wrap="square" rtlCol="0" anchor="ctr"/>
          <a:lstStyle/>
          <a:p>
            <a:pPr algn="ctr" indent="0" marL="0">
              <a:buNone/>
            </a:pPr>
            <a:r>
              <a:rPr lang="en-US" sz="1800" dirty="0">
                <a:solidFill>
                  <a:srgbClr val="38BDF8"/>
                </a:solidFill>
              </a:rPr>
              <a:t>→</a:t>
            </a:r>
            <a:endParaRPr lang="en-US" sz="1800" dirty="0"/>
          </a:p>
        </p:txBody>
      </p:sp>
      <p:sp>
        <p:nvSpPr>
          <p:cNvPr id="11" name="Text 9"/>
          <p:cNvSpPr/>
          <p:nvPr/>
        </p:nvSpPr>
        <p:spPr>
          <a:xfrm>
            <a:off x="6053328" y="1078992"/>
            <a:ext cx="201168" cy="256032"/>
          </a:xfrm>
          <a:prstGeom prst="rect">
            <a:avLst/>
          </a:prstGeom>
          <a:noFill/>
          <a:ln/>
        </p:spPr>
        <p:txBody>
          <a:bodyPr wrap="square" rtlCol="0" anchor="ctr"/>
          <a:lstStyle/>
          <a:p>
            <a:pPr algn="ctr" indent="0" marL="0">
              <a:buNone/>
            </a:pPr>
            <a:r>
              <a:rPr lang="en-US" sz="1800" dirty="0">
                <a:solidFill>
                  <a:srgbClr val="38BDF8"/>
                </a:solidFill>
              </a:rPr>
              <a:t>→</a:t>
            </a:r>
            <a:endParaRPr lang="en-US" sz="1800" dirty="0"/>
          </a:p>
        </p:txBody>
      </p:sp>
      <p:sp>
        <p:nvSpPr>
          <p:cNvPr id="12" name="Shape 10"/>
          <p:cNvSpPr/>
          <p:nvPr/>
        </p:nvSpPr>
        <p:spPr>
          <a:xfrm>
            <a:off x="457200" y="1508760"/>
            <a:ext cx="2743200" cy="1143000"/>
          </a:xfrm>
          <a:prstGeom prst="rect">
            <a:avLst/>
          </a:prstGeom>
          <a:solidFill>
            <a:srgbClr val="1E293B"/>
          </a:solidFill>
          <a:ln w="12700">
            <a:solidFill>
              <a:srgbClr val="334155"/>
            </a:solidFill>
            <a:prstDash val="solid"/>
          </a:ln>
        </p:spPr>
      </p:sp>
      <p:sp>
        <p:nvSpPr>
          <p:cNvPr id="13" name="Text 11"/>
          <p:cNvSpPr/>
          <p:nvPr/>
        </p:nvSpPr>
        <p:spPr>
          <a:xfrm>
            <a:off x="548640" y="1618488"/>
            <a:ext cx="2560320" cy="914400"/>
          </a:xfrm>
          <a:prstGeom prst="rect">
            <a:avLst/>
          </a:prstGeom>
          <a:noFill/>
          <a:ln/>
        </p:spPr>
        <p:txBody>
          <a:bodyPr wrap="square" rtlCol="0" anchor="ctr"/>
          <a:lstStyle/>
          <a:p>
            <a:pPr indent="0" marL="0">
              <a:buNone/>
            </a:pPr>
            <a:r>
              <a:rPr lang="en-US" sz="1100" b="1" dirty="0">
                <a:solidFill>
                  <a:srgbClr val="60A5FA"/>
                </a:solidFill>
              </a:rPr>
              <a:t>ChatGPT:</a:t>
            </a:r>
            <a:endParaRPr lang="en-US" sz="1100" dirty="0"/>
          </a:p>
          <a:p>
            <a:pPr indent="0" marL="0">
              <a:buNone/>
            </a:pPr>
            <a:r>
              <a:rPr lang="en-US" sz="1100" dirty="0">
                <a:solidFill>
                  <a:srgbClr val="94A3B8"/>
                </a:solidFill>
              </a:rPr>
              <a:t>Đang tiến sang System — Custom GPTs, API ecosystem</a:t>
            </a:r>
            <a:endParaRPr lang="en-US" sz="1100" dirty="0"/>
          </a:p>
        </p:txBody>
      </p:sp>
      <p:sp>
        <p:nvSpPr>
          <p:cNvPr id="14" name="Shape 12"/>
          <p:cNvSpPr/>
          <p:nvPr/>
        </p:nvSpPr>
        <p:spPr>
          <a:xfrm>
            <a:off x="3337560" y="1508760"/>
            <a:ext cx="2743200" cy="1143000"/>
          </a:xfrm>
          <a:prstGeom prst="rect">
            <a:avLst/>
          </a:prstGeom>
          <a:solidFill>
            <a:srgbClr val="1E293B"/>
          </a:solidFill>
          <a:ln w="12700">
            <a:solidFill>
              <a:srgbClr val="334155"/>
            </a:solidFill>
            <a:prstDash val="solid"/>
          </a:ln>
        </p:spPr>
      </p:sp>
      <p:sp>
        <p:nvSpPr>
          <p:cNvPr id="15" name="Text 13"/>
          <p:cNvSpPr/>
          <p:nvPr/>
        </p:nvSpPr>
        <p:spPr>
          <a:xfrm>
            <a:off x="3429000" y="1618488"/>
            <a:ext cx="2560320" cy="914400"/>
          </a:xfrm>
          <a:prstGeom prst="rect">
            <a:avLst/>
          </a:prstGeom>
          <a:noFill/>
          <a:ln/>
        </p:spPr>
        <p:txBody>
          <a:bodyPr wrap="square" rtlCol="0" anchor="ctr"/>
          <a:lstStyle/>
          <a:p>
            <a:pPr indent="0" marL="0">
              <a:buNone/>
            </a:pPr>
            <a:r>
              <a:rPr lang="en-US" sz="1100" b="1" dirty="0">
                <a:solidFill>
                  <a:srgbClr val="A78BFA"/>
                </a:solidFill>
              </a:rPr>
              <a:t>Jasper:</a:t>
            </a:r>
            <a:endParaRPr lang="en-US" sz="1100" dirty="0"/>
          </a:p>
          <a:p>
            <a:pPr indent="0" marL="0">
              <a:buNone/>
            </a:pPr>
            <a:r>
              <a:rPr lang="en-US" sz="1100" dirty="0">
                <a:solidFill>
                  <a:srgbClr val="94A3B8"/>
                </a:solidFill>
              </a:rPr>
              <a:t>Buộc phải lên System: tích hợp Google Docs, CMS, Workflow</a:t>
            </a:r>
            <a:endParaRPr lang="en-US" sz="1100" dirty="0"/>
          </a:p>
        </p:txBody>
      </p:sp>
      <p:sp>
        <p:nvSpPr>
          <p:cNvPr id="16" name="Shape 14"/>
          <p:cNvSpPr/>
          <p:nvPr/>
        </p:nvSpPr>
        <p:spPr>
          <a:xfrm>
            <a:off x="6217920" y="1508760"/>
            <a:ext cx="2743200" cy="1143000"/>
          </a:xfrm>
          <a:prstGeom prst="rect">
            <a:avLst/>
          </a:prstGeom>
          <a:solidFill>
            <a:srgbClr val="1E3A5F"/>
          </a:solidFill>
          <a:ln w="12700">
            <a:solidFill>
              <a:srgbClr val="38BDF8"/>
            </a:solidFill>
            <a:prstDash val="solid"/>
          </a:ln>
        </p:spPr>
      </p:sp>
      <p:sp>
        <p:nvSpPr>
          <p:cNvPr id="17" name="Text 15"/>
          <p:cNvSpPr/>
          <p:nvPr/>
        </p:nvSpPr>
        <p:spPr>
          <a:xfrm>
            <a:off x="6309360" y="1737360"/>
            <a:ext cx="2560320" cy="731520"/>
          </a:xfrm>
          <a:prstGeom prst="rect">
            <a:avLst/>
          </a:prstGeom>
          <a:noFill/>
          <a:ln/>
        </p:spPr>
        <p:txBody>
          <a:bodyPr wrap="square" rtlCol="0" anchor="ctr"/>
          <a:lstStyle/>
          <a:p>
            <a:pPr indent="0" marL="0">
              <a:buNone/>
            </a:pPr>
            <a:r>
              <a:rPr lang="en-US" sz="1100" dirty="0">
                <a:solidFill>
                  <a:srgbClr val="FFFFFF"/>
                </a:solidFill>
              </a:rPr>
              <a:t>Tích hợp sâu vào hệ thống → Switching cost cao → Sống sót</a:t>
            </a:r>
            <a:endParaRPr lang="en-US" sz="1100" dirty="0"/>
          </a:p>
        </p:txBody>
      </p:sp>
      <p:sp>
        <p:nvSpPr>
          <p:cNvPr id="18" name="Shape 16"/>
          <p:cNvSpPr/>
          <p:nvPr/>
        </p:nvSpPr>
        <p:spPr>
          <a:xfrm>
            <a:off x="411480" y="2834640"/>
            <a:ext cx="8321040" cy="2011680"/>
          </a:xfrm>
          <a:prstGeom prst="rect">
            <a:avLst/>
          </a:prstGeom>
          <a:solidFill>
            <a:srgbClr val="172554"/>
          </a:solidFill>
          <a:ln w="12700">
            <a:solidFill>
              <a:srgbClr val="1D4ED8"/>
            </a:solidFill>
            <a:prstDash val="solid"/>
          </a:ln>
        </p:spPr>
      </p:sp>
      <p:sp>
        <p:nvSpPr>
          <p:cNvPr id="19" name="Shape 17"/>
          <p:cNvSpPr/>
          <p:nvPr/>
        </p:nvSpPr>
        <p:spPr>
          <a:xfrm>
            <a:off x="411480" y="2834640"/>
            <a:ext cx="8321040" cy="411480"/>
          </a:xfrm>
          <a:prstGeom prst="rect">
            <a:avLst/>
          </a:prstGeom>
          <a:solidFill>
            <a:srgbClr val="1D4ED8"/>
          </a:solidFill>
          <a:ln w="12700">
            <a:solidFill>
              <a:srgbClr val="1D4ED8"/>
            </a:solidFill>
            <a:prstDash val="solid"/>
          </a:ln>
        </p:spPr>
      </p:sp>
      <p:sp>
        <p:nvSpPr>
          <p:cNvPr id="20" name="Text 18"/>
          <p:cNvSpPr/>
          <p:nvPr/>
        </p:nvSpPr>
        <p:spPr>
          <a:xfrm>
            <a:off x="594360" y="2880360"/>
            <a:ext cx="7955280" cy="310896"/>
          </a:xfrm>
          <a:prstGeom prst="rect">
            <a:avLst/>
          </a:prstGeom>
          <a:noFill/>
          <a:ln/>
        </p:spPr>
        <p:txBody>
          <a:bodyPr wrap="square" rtlCol="0" anchor="ctr"/>
          <a:lstStyle/>
          <a:p>
            <a:pPr indent="0" marL="0">
              <a:buNone/>
            </a:pPr>
            <a:r>
              <a:rPr lang="en-US" sz="1300" b="1" dirty="0">
                <a:solidFill>
                  <a:srgbClr val="FFFFFF"/>
                </a:solidFill>
              </a:rPr>
              <a:t>💡  Bài học từ Lab 1 — Hiệu ứng Big Squeeze</a:t>
            </a:r>
            <a:endParaRPr lang="en-US" sz="1300" dirty="0"/>
          </a:p>
        </p:txBody>
      </p:sp>
      <p:sp>
        <p:nvSpPr>
          <p:cNvPr id="21" name="Text 19"/>
          <p:cNvSpPr/>
          <p:nvPr/>
        </p:nvSpPr>
        <p:spPr>
          <a:xfrm>
            <a:off x="594360" y="3310128"/>
            <a:ext cx="7955280" cy="1417320"/>
          </a:xfrm>
          <a:prstGeom prst="rect">
            <a:avLst/>
          </a:prstGeom>
          <a:noFill/>
          <a:ln/>
        </p:spPr>
        <p:txBody>
          <a:bodyPr wrap="square" rtlCol="0" anchor="ctr"/>
          <a:lstStyle/>
          <a:p>
            <a:pPr indent="0" marL="0">
              <a:buNone/>
            </a:pPr>
            <a:r>
              <a:rPr lang="en-US" sz="1300" b="1" dirty="0">
                <a:solidFill>
                  <a:srgbClr val="38BDF8"/>
                </a:solidFill>
              </a:rPr>
              <a:t>Jasper là nạn nhân kinh điển của "Big Squeeze".</a:t>
            </a:r>
            <a:endParaRPr lang="en-US" sz="1300" dirty="0"/>
          </a:p>
          <a:p>
            <a:pPr indent="0" marL="0">
              <a:buNone/>
            </a:pPr>
            <a:r>
              <a:rPr lang="en-US" sz="1300" b="1" dirty="0">
                <a:solidFill>
                  <a:srgbClr val="FFFFFF"/>
                </a:solidFill>
              </a:rPr>
              <a:t>Bài học lớn nhất:</a:t>
            </a:r>
            <a:endParaRPr lang="en-US" sz="1300" dirty="0"/>
          </a:p>
          <a:p>
            <a:pPr indent="0" marL="0">
              <a:buNone/>
            </a:pPr>
            <a:r>
              <a:rPr lang="en-US" sz="1300" i="1" dirty="0">
                <a:solidFill>
                  <a:srgbClr val="94A3B8"/>
                </a:solidFill>
              </a:rPr>
              <a:t>Xây dựng AI UI/UX mà thiếu Data Moat và Model lõi = "Xây lâu đài trên cát".</a:t>
            </a:r>
            <a:endParaRPr lang="en-US" sz="1300" dirty="0"/>
          </a:p>
          <a:p>
            <a:pPr indent="0" marL="0">
              <a:buNone/>
            </a:pPr>
            <a:r>
              <a:rPr lang="en-US" sz="1300" dirty="0">
                <a:solidFill>
                  <a:srgbClr val="93C5FD"/>
                </a:solidFill>
              </a:rPr>
              <a:t>Phải nhanh chóng sở hữu tệp khách hàng sâu (B2B) mới mong sống sót trong cuộc chiến AI.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vs Jasper AI - Lab 2</dc:title>
  <dc:subject>PptxGenJS Presentation</dc:subject>
  <dc:creator>PptxGenJS</dc:creator>
  <cp:lastModifiedBy>PptxGenJS</cp:lastModifiedBy>
  <cp:revision>1</cp:revision>
  <dcterms:created xsi:type="dcterms:W3CDTF">2026-05-14T06:00:54Z</dcterms:created>
  <dcterms:modified xsi:type="dcterms:W3CDTF">2026-05-14T06:00:54Z</dcterms:modified>
</cp:coreProperties>
</file>